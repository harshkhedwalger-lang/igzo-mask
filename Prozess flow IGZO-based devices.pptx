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4" r:id="rId2"/>
  </p:sldMasterIdLst>
  <p:notesMasterIdLst>
    <p:notesMasterId r:id="rId13"/>
  </p:notesMasterIdLst>
  <p:sldIdLst>
    <p:sldId id="258" r:id="rId3"/>
    <p:sldId id="257" r:id="rId4"/>
    <p:sldId id="259" r:id="rId5"/>
    <p:sldId id="260" r:id="rId6"/>
    <p:sldId id="261" r:id="rId7"/>
    <p:sldId id="262" r:id="rId8"/>
    <p:sldId id="264" r:id="rId9"/>
    <p:sldId id="270" r:id="rId10"/>
    <p:sldId id="269" r:id="rId11"/>
    <p:sldId id="25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5555"/>
    <a:srgbClr val="7891D7"/>
    <a:srgbClr val="879BD2"/>
    <a:srgbClr val="EB6E6E"/>
    <a:srgbClr val="96A5C3"/>
    <a:srgbClr val="5973A6"/>
    <a:srgbClr val="7887A5"/>
    <a:srgbClr val="9999FF"/>
    <a:srgbClr val="3333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64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27902-942F-4DF0-AA48-03D9CD040FC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97EF6-5B9B-4C83-AF38-435FF8F15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3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003277"/>
            <a:ext cx="10972800" cy="141287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512590"/>
            <a:ext cx="10972800" cy="579437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4" name="Untertitel 2">
            <a:extLst>
              <a:ext uri="{FF2B5EF4-FFF2-40B4-BE49-F238E27FC236}">
                <a16:creationId xmlns:a16="http://schemas.microsoft.com/office/drawing/2014/main" id="{31490232-F9A2-A74B-6A91-69459B39AAF9}"/>
              </a:ext>
            </a:extLst>
          </p:cNvPr>
          <p:cNvSpPr txBox="1">
            <a:spLocks/>
          </p:cNvSpPr>
          <p:nvPr/>
        </p:nvSpPr>
        <p:spPr>
          <a:xfrm>
            <a:off x="609600" y="1931192"/>
            <a:ext cx="10972800" cy="127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/>
              <a:t>Benjamin Max</a:t>
            </a:r>
            <a:br>
              <a:rPr lang="de-DE" sz="1600" dirty="0"/>
            </a:br>
            <a:r>
              <a:rPr lang="de-DE" sz="1600" dirty="0"/>
              <a:t>Professur für Nanoelektronik</a:t>
            </a:r>
            <a:br>
              <a:rPr lang="de-DE" sz="1600" dirty="0"/>
            </a:br>
            <a:r>
              <a:rPr lang="de-DE" sz="1600" dirty="0"/>
              <a:t>Institut für Halbleiter- und Mikrosystemtechnik (IHM)</a:t>
            </a:r>
            <a:br>
              <a:rPr lang="de-DE" sz="1600" dirty="0"/>
            </a:br>
            <a:r>
              <a:rPr lang="de-DE" sz="1600" dirty="0"/>
              <a:t>TU Dresden</a:t>
            </a:r>
            <a:br>
              <a:rPr lang="de-DE" sz="1600" dirty="0"/>
            </a:br>
            <a:endParaRPr lang="de-DE" sz="1600" dirty="0"/>
          </a:p>
        </p:txBody>
      </p:sp>
      <p:pic>
        <p:nvPicPr>
          <p:cNvPr id="13" name="Grafik 12" descr="Ein Bild, das Schrift, Tex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2AD6A0EF-01D3-DF01-7763-877F9A3050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740" y="404813"/>
            <a:ext cx="3733659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Blau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003277"/>
            <a:ext cx="10972800" cy="141287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512590"/>
            <a:ext cx="10972800" cy="579437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4" name="Untertitel 2">
            <a:extLst>
              <a:ext uri="{FF2B5EF4-FFF2-40B4-BE49-F238E27FC236}">
                <a16:creationId xmlns:a16="http://schemas.microsoft.com/office/drawing/2014/main" id="{31490232-F9A2-A74B-6A91-69459B39AAF9}"/>
              </a:ext>
            </a:extLst>
          </p:cNvPr>
          <p:cNvSpPr txBox="1">
            <a:spLocks/>
          </p:cNvSpPr>
          <p:nvPr/>
        </p:nvSpPr>
        <p:spPr>
          <a:xfrm>
            <a:off x="609600" y="1931192"/>
            <a:ext cx="10972800" cy="127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/>
              <a:t>Benjamin Max</a:t>
            </a:r>
            <a:br>
              <a:rPr lang="de-DE" sz="1600" dirty="0"/>
            </a:br>
            <a:r>
              <a:rPr lang="de-DE" sz="1600" dirty="0"/>
              <a:t>Chair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Nanoelectronics</a:t>
            </a:r>
            <a:br>
              <a:rPr lang="de-DE" sz="1600" dirty="0"/>
            </a:br>
            <a:r>
              <a:rPr lang="de-DE" sz="1600" dirty="0"/>
              <a:t>Institute </a:t>
            </a:r>
            <a:r>
              <a:rPr lang="de-DE" sz="1600" dirty="0" err="1"/>
              <a:t>of</a:t>
            </a:r>
            <a:r>
              <a:rPr lang="de-DE" sz="1600" dirty="0"/>
              <a:t> Semiconductors and Microsystems (IHM)</a:t>
            </a:r>
            <a:br>
              <a:rPr lang="de-DE" sz="1600" dirty="0"/>
            </a:br>
            <a:r>
              <a:rPr lang="de-DE" sz="1600" dirty="0"/>
              <a:t>TU Dresden</a:t>
            </a:r>
          </a:p>
        </p:txBody>
      </p:sp>
      <p:pic>
        <p:nvPicPr>
          <p:cNvPr id="5" name="Grafik 4" descr="Ein Bild, das Schrift, Tex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A998F01-DD18-B1C7-27BC-CB8D28EC6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740" y="404813"/>
            <a:ext cx="3733659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1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  <p:sp>
        <p:nvSpPr>
          <p:cNvPr id="6" name="Untertitel 2">
            <a:extLst>
              <a:ext uri="{FF2B5EF4-FFF2-40B4-BE49-F238E27FC236}">
                <a16:creationId xmlns:a16="http://schemas.microsoft.com/office/drawing/2014/main" id="{973E24A4-251D-4FA3-FCA0-22063509C64A}"/>
              </a:ext>
            </a:extLst>
          </p:cNvPr>
          <p:cNvSpPr txBox="1">
            <a:spLocks/>
          </p:cNvSpPr>
          <p:nvPr/>
        </p:nvSpPr>
        <p:spPr>
          <a:xfrm>
            <a:off x="609600" y="1931192"/>
            <a:ext cx="10972800" cy="127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>
                <a:solidFill>
                  <a:srgbClr val="00008C"/>
                </a:solidFill>
              </a:rPr>
              <a:t>Benjamin Max</a:t>
            </a:r>
            <a:br>
              <a:rPr lang="de-DE" sz="1600" dirty="0">
                <a:solidFill>
                  <a:srgbClr val="00008C"/>
                </a:solidFill>
              </a:rPr>
            </a:br>
            <a:r>
              <a:rPr lang="de-DE" sz="1600" dirty="0">
                <a:solidFill>
                  <a:srgbClr val="00008C"/>
                </a:solidFill>
              </a:rPr>
              <a:t>Professur für Nanoelektronik</a:t>
            </a:r>
            <a:br>
              <a:rPr lang="de-DE" sz="1600" dirty="0">
                <a:solidFill>
                  <a:srgbClr val="00008C"/>
                </a:solidFill>
              </a:rPr>
            </a:br>
            <a:r>
              <a:rPr lang="de-DE" sz="1600" dirty="0">
                <a:solidFill>
                  <a:srgbClr val="00008C"/>
                </a:solidFill>
              </a:rPr>
              <a:t>Institut für Halbleiter- und Mikrosystemtechnik (IHM)</a:t>
            </a:r>
            <a:br>
              <a:rPr lang="de-DE" sz="1600" dirty="0">
                <a:solidFill>
                  <a:srgbClr val="00008C"/>
                </a:solidFill>
              </a:rPr>
            </a:br>
            <a:r>
              <a:rPr lang="de-DE" sz="1600" dirty="0">
                <a:solidFill>
                  <a:srgbClr val="00008C"/>
                </a:solidFill>
              </a:rPr>
              <a:t>TU Dresden</a:t>
            </a:r>
          </a:p>
        </p:txBody>
      </p:sp>
      <p:pic>
        <p:nvPicPr>
          <p:cNvPr id="19" name="Grafik 18" descr="Ein Bild, das Schrift, Text, Grafiken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D9983592-7E0F-7CBE-D260-867D0BD1D3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740" y="404811"/>
            <a:ext cx="3733659" cy="658800"/>
          </a:xfrm>
          <a:prstGeom prst="rect">
            <a:avLst/>
          </a:prstGeom>
        </p:spPr>
      </p:pic>
      <p:sp>
        <p:nvSpPr>
          <p:cNvPr id="32" name="Titel 1">
            <a:extLst>
              <a:ext uri="{FF2B5EF4-FFF2-40B4-BE49-F238E27FC236}">
                <a16:creationId xmlns:a16="http://schemas.microsoft.com/office/drawing/2014/main" id="{7AAB9EE4-0C7B-49BD-A62B-829E829D002A}"/>
              </a:ext>
            </a:extLst>
          </p:cNvPr>
          <p:cNvSpPr txBox="1">
            <a:spLocks/>
          </p:cNvSpPr>
          <p:nvPr/>
        </p:nvSpPr>
        <p:spPr>
          <a:xfrm>
            <a:off x="609600" y="4003277"/>
            <a:ext cx="10972800" cy="1412873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3" name="Titel 32">
            <a:extLst>
              <a:ext uri="{FF2B5EF4-FFF2-40B4-BE49-F238E27FC236}">
                <a16:creationId xmlns:a16="http://schemas.microsoft.com/office/drawing/2014/main" id="{143ABA96-6440-1CDE-4D2E-AEFD6D9E4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03277"/>
            <a:ext cx="10972800" cy="1414800"/>
          </a:xfrm>
        </p:spPr>
        <p:txBody>
          <a:bodyPr/>
          <a:lstStyle>
            <a:lvl1pPr>
              <a:defRPr sz="4400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5" name="Untertitel 2">
            <a:extLst>
              <a:ext uri="{FF2B5EF4-FFF2-40B4-BE49-F238E27FC236}">
                <a16:creationId xmlns:a16="http://schemas.microsoft.com/office/drawing/2014/main" id="{00118362-A488-7FFA-2418-BB5EF7BFB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512590"/>
            <a:ext cx="10972800" cy="579437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weiß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  <p:sp>
        <p:nvSpPr>
          <p:cNvPr id="4" name="Untertitel 2">
            <a:extLst>
              <a:ext uri="{FF2B5EF4-FFF2-40B4-BE49-F238E27FC236}">
                <a16:creationId xmlns:a16="http://schemas.microsoft.com/office/drawing/2014/main" id="{FC7698CD-87B3-E4D1-BD70-29A77713E563}"/>
              </a:ext>
            </a:extLst>
          </p:cNvPr>
          <p:cNvSpPr txBox="1">
            <a:spLocks/>
          </p:cNvSpPr>
          <p:nvPr/>
        </p:nvSpPr>
        <p:spPr>
          <a:xfrm>
            <a:off x="609600" y="1931192"/>
            <a:ext cx="10972800" cy="127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>
                <a:solidFill>
                  <a:srgbClr val="00008C"/>
                </a:solidFill>
              </a:rPr>
              <a:t>Benjamin Max</a:t>
            </a:r>
            <a:br>
              <a:rPr lang="de-DE" sz="1600" dirty="0">
                <a:solidFill>
                  <a:srgbClr val="00008C"/>
                </a:solidFill>
              </a:rPr>
            </a:br>
            <a:r>
              <a:rPr lang="de-DE" sz="1600" dirty="0">
                <a:solidFill>
                  <a:srgbClr val="00008C"/>
                </a:solidFill>
              </a:rPr>
              <a:t>Chair </a:t>
            </a:r>
            <a:r>
              <a:rPr lang="de-DE" sz="1600" dirty="0" err="1">
                <a:solidFill>
                  <a:srgbClr val="00008C"/>
                </a:solidFill>
              </a:rPr>
              <a:t>of</a:t>
            </a:r>
            <a:r>
              <a:rPr lang="de-DE" sz="1600" dirty="0">
                <a:solidFill>
                  <a:srgbClr val="00008C"/>
                </a:solidFill>
              </a:rPr>
              <a:t> </a:t>
            </a:r>
            <a:r>
              <a:rPr lang="de-DE" sz="1600" dirty="0" err="1">
                <a:solidFill>
                  <a:srgbClr val="00008C"/>
                </a:solidFill>
              </a:rPr>
              <a:t>Nanoelectronics</a:t>
            </a:r>
            <a:br>
              <a:rPr lang="de-DE" sz="1600" dirty="0">
                <a:solidFill>
                  <a:srgbClr val="00008C"/>
                </a:solidFill>
              </a:rPr>
            </a:br>
            <a:r>
              <a:rPr lang="de-DE" sz="1600" dirty="0">
                <a:solidFill>
                  <a:srgbClr val="00008C"/>
                </a:solidFill>
              </a:rPr>
              <a:t>Institute </a:t>
            </a:r>
            <a:r>
              <a:rPr lang="de-DE" sz="1600" dirty="0" err="1">
                <a:solidFill>
                  <a:srgbClr val="00008C"/>
                </a:solidFill>
              </a:rPr>
              <a:t>of</a:t>
            </a:r>
            <a:r>
              <a:rPr lang="de-DE" sz="1600" dirty="0">
                <a:solidFill>
                  <a:srgbClr val="00008C"/>
                </a:solidFill>
              </a:rPr>
              <a:t> Semiconductors and Microsystems (IHM)</a:t>
            </a:r>
            <a:br>
              <a:rPr lang="de-DE" sz="1600" dirty="0">
                <a:solidFill>
                  <a:srgbClr val="00008C"/>
                </a:solidFill>
              </a:rPr>
            </a:br>
            <a:r>
              <a:rPr lang="de-DE" sz="1600" dirty="0">
                <a:solidFill>
                  <a:srgbClr val="00008C"/>
                </a:solidFill>
              </a:rPr>
              <a:t>TU Dresden</a:t>
            </a:r>
          </a:p>
        </p:txBody>
      </p:sp>
      <p:pic>
        <p:nvPicPr>
          <p:cNvPr id="5" name="Grafik 4" descr="Ein Bild, das Schrift, Text, Grafiken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D3B059D7-16F3-E019-6124-625E95F1D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740" y="404811"/>
            <a:ext cx="3733659" cy="658800"/>
          </a:xfrm>
          <a:prstGeom prst="rect">
            <a:avLst/>
          </a:prstGeom>
        </p:spPr>
      </p:pic>
      <p:sp>
        <p:nvSpPr>
          <p:cNvPr id="8" name="Titel 32">
            <a:extLst>
              <a:ext uri="{FF2B5EF4-FFF2-40B4-BE49-F238E27FC236}">
                <a16:creationId xmlns:a16="http://schemas.microsoft.com/office/drawing/2014/main" id="{3B61688B-043E-B060-6343-ACA08AE0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03277"/>
            <a:ext cx="10972800" cy="1414800"/>
          </a:xfrm>
        </p:spPr>
        <p:txBody>
          <a:bodyPr/>
          <a:lstStyle>
            <a:lvl1pPr>
              <a:defRPr sz="4400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18750D5A-A2C2-6958-05D9-5A971FD3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512590"/>
            <a:ext cx="10972800" cy="579437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0378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5154294" y="-4145914"/>
            <a:ext cx="17099914" cy="17099914"/>
          </a:xfrm>
          <a:prstGeom prst="rect">
            <a:avLst/>
          </a:prstGeom>
        </p:spPr>
      </p:pic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7FE145-6663-9250-50E2-D7E777256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003277"/>
            <a:ext cx="10972800" cy="141287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D22F0F3-4F4B-F9ED-282D-DF41CF48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512590"/>
            <a:ext cx="10972800" cy="579437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72FFADF6-A06A-B25D-8917-1FC63E797C0B}"/>
              </a:ext>
            </a:extLst>
          </p:cNvPr>
          <p:cNvSpPr txBox="1">
            <a:spLocks/>
          </p:cNvSpPr>
          <p:nvPr/>
        </p:nvSpPr>
        <p:spPr>
          <a:xfrm>
            <a:off x="609600" y="1931192"/>
            <a:ext cx="10972800" cy="127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/>
              <a:t>Benjamin Max</a:t>
            </a:r>
            <a:br>
              <a:rPr lang="de-DE" sz="1600" dirty="0"/>
            </a:br>
            <a:r>
              <a:rPr lang="de-DE" sz="1600" dirty="0"/>
              <a:t>Professur für Nanoelektronik</a:t>
            </a:r>
            <a:br>
              <a:rPr lang="de-DE" sz="1600" dirty="0"/>
            </a:br>
            <a:r>
              <a:rPr lang="de-DE" sz="1600" dirty="0"/>
              <a:t>Institut für Halbleiter- und Mikrosystemtechnik (IHM)</a:t>
            </a:r>
            <a:br>
              <a:rPr lang="de-DE" sz="1600" dirty="0"/>
            </a:br>
            <a:r>
              <a:rPr lang="de-DE" sz="1600" dirty="0"/>
              <a:t>TU Dresden</a:t>
            </a:r>
          </a:p>
        </p:txBody>
      </p:sp>
      <p:pic>
        <p:nvPicPr>
          <p:cNvPr id="6" name="Grafik 5" descr="Ein Bild, das Schrift, Tex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C54587A-16D6-8B39-1B70-D81E1E7AC8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740" y="404813"/>
            <a:ext cx="3733659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Blau-Blau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5154294" y="-4145914"/>
            <a:ext cx="17099914" cy="17099914"/>
          </a:xfrm>
          <a:prstGeom prst="rect">
            <a:avLst/>
          </a:prstGeom>
        </p:spPr>
      </p:pic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7FE145-6663-9250-50E2-D7E777256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003277"/>
            <a:ext cx="10972800" cy="141287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D22F0F3-4F4B-F9ED-282D-DF41CF48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512590"/>
            <a:ext cx="10972800" cy="579437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AD3700A-FE34-47F6-7083-5489EE85DDFF}"/>
              </a:ext>
            </a:extLst>
          </p:cNvPr>
          <p:cNvSpPr txBox="1">
            <a:spLocks/>
          </p:cNvSpPr>
          <p:nvPr/>
        </p:nvSpPr>
        <p:spPr>
          <a:xfrm>
            <a:off x="609600" y="1931192"/>
            <a:ext cx="10972800" cy="127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>
                <a:solidFill>
                  <a:schemeClr val="bg1"/>
                </a:solidFill>
              </a:rPr>
              <a:t>Benjamin Max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Chair </a:t>
            </a:r>
            <a:r>
              <a:rPr lang="de-DE" sz="1600" dirty="0" err="1">
                <a:solidFill>
                  <a:schemeClr val="bg1"/>
                </a:solidFill>
              </a:rPr>
              <a:t>of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Nanoelectronics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Institute </a:t>
            </a:r>
            <a:r>
              <a:rPr lang="de-DE" sz="1600" dirty="0" err="1">
                <a:solidFill>
                  <a:schemeClr val="bg1"/>
                </a:solidFill>
              </a:rPr>
              <a:t>of</a:t>
            </a:r>
            <a:r>
              <a:rPr lang="de-DE" sz="1600" dirty="0">
                <a:solidFill>
                  <a:schemeClr val="bg1"/>
                </a:solidFill>
              </a:rPr>
              <a:t> Semiconductors and Microsystems (IHM)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TU Dresden</a:t>
            </a:r>
          </a:p>
        </p:txBody>
      </p:sp>
      <p:pic>
        <p:nvPicPr>
          <p:cNvPr id="8" name="Grafik 7" descr="Ein Bild, das Schrift, Tex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C6CD16F9-8D72-2FA8-E86C-289798EDD9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740" y="404813"/>
            <a:ext cx="3733659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87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seite_vV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86823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seite_vV_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921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seite_vV_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56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seite_vV_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B6767-F2B8-4BAA-BF07-3F9A160B3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84427" y="-5069549"/>
            <a:ext cx="18380919" cy="182111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42166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eite_vV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997200"/>
            <a:ext cx="3506788" cy="2844800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43400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12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flow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IGZO-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based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devices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Benjamin Max • Seite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Grafik 5" descr="Ein Bild, das Schrift, Text, Grafiken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C1E9A706-75EA-7C72-AEB3-0663CE47AB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884" y="6288480"/>
            <a:ext cx="938516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1" r:id="rId2"/>
    <p:sldLayoutId id="2147483705" r:id="rId3"/>
    <p:sldLayoutId id="2147483712" r:id="rId4"/>
    <p:sldLayoutId id="2147483706" r:id="rId5"/>
    <p:sldLayoutId id="2147483713" r:id="rId6"/>
    <p:sldLayoutId id="2147483710" r:id="rId7"/>
    <p:sldLayoutId id="2147483652" r:id="rId8"/>
    <p:sldLayoutId id="2147483709" r:id="rId9"/>
    <p:sldLayoutId id="2147483656" r:id="rId10"/>
    <p:sldLayoutId id="2147483665" r:id="rId11"/>
    <p:sldLayoutId id="2147483657" r:id="rId12"/>
    <p:sldLayoutId id="2147483666" r:id="rId13"/>
    <p:sldLayoutId id="2147483654" r:id="rId14"/>
    <p:sldLayoutId id="2147483655" r:id="rId15"/>
    <p:sldLayoutId id="2147483694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rgbClr val="00008C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rgbClr val="00008C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rgbClr val="00008C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8C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008C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008C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rgbClr val="00008C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rgbClr val="00008C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rgbClr val="00008C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008C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3" pos="384">
          <p15:clr>
            <a:srgbClr val="F26B43"/>
          </p15:clr>
        </p15:guide>
        <p15:guide id="4" pos="7296">
          <p15:clr>
            <a:srgbClr val="F26B43"/>
          </p15:clr>
        </p15:guide>
        <p15:guide id="5" pos="846">
          <p15:clr>
            <a:srgbClr val="F26B43"/>
          </p15:clr>
        </p15:guide>
        <p15:guide id="6" pos="982">
          <p15:clr>
            <a:srgbClr val="F26B43"/>
          </p15:clr>
        </p15:guide>
        <p15:guide id="7" pos="1436">
          <p15:clr>
            <a:srgbClr val="F26B43"/>
          </p15:clr>
        </p15:guide>
        <p15:guide id="8" pos="1560">
          <p15:clr>
            <a:srgbClr val="F26B43"/>
          </p15:clr>
        </p15:guide>
        <p15:guide id="9" pos="2026">
          <p15:clr>
            <a:srgbClr val="F26B43"/>
          </p15:clr>
        </p15:guide>
        <p15:guide id="10" pos="2139">
          <p15:clr>
            <a:srgbClr val="F26B43"/>
          </p15:clr>
        </p15:guide>
        <p15:guide id="11" pos="2593">
          <p15:clr>
            <a:srgbClr val="F26B43"/>
          </p15:clr>
        </p15:guide>
        <p15:guide id="12" pos="2736">
          <p15:clr>
            <a:srgbClr val="F26B43"/>
          </p15:clr>
        </p15:guide>
        <p15:guide id="13" pos="3182">
          <p15:clr>
            <a:srgbClr val="F26B43"/>
          </p15:clr>
        </p15:guide>
        <p15:guide id="14" pos="3318">
          <p15:clr>
            <a:srgbClr val="F26B43"/>
          </p15:clr>
        </p15:guide>
        <p15:guide id="15" pos="3772">
          <p15:clr>
            <a:srgbClr val="F26B43"/>
          </p15:clr>
        </p15:guide>
        <p15:guide id="16" pos="3908">
          <p15:clr>
            <a:srgbClr val="F26B43"/>
          </p15:clr>
        </p15:guide>
        <p15:guide id="17" pos="4362">
          <p15:clr>
            <a:srgbClr val="F26B43"/>
          </p15:clr>
        </p15:guide>
        <p15:guide id="18" pos="4498">
          <p15:clr>
            <a:srgbClr val="F26B43"/>
          </p15:clr>
        </p15:guide>
        <p15:guide id="19" pos="4951">
          <p15:clr>
            <a:srgbClr val="F26B43"/>
          </p15:clr>
        </p15:guide>
        <p15:guide id="20" pos="5087">
          <p15:clr>
            <a:srgbClr val="F26B43"/>
          </p15:clr>
        </p15:guide>
        <p15:guide id="21" pos="5541">
          <p15:clr>
            <a:srgbClr val="F26B43"/>
          </p15:clr>
        </p15:guide>
        <p15:guide id="22" pos="5654">
          <p15:clr>
            <a:srgbClr val="F26B43"/>
          </p15:clr>
        </p15:guide>
        <p15:guide id="23" pos="6120">
          <p15:clr>
            <a:srgbClr val="F26B43"/>
          </p15:clr>
        </p15:guide>
        <p15:guide id="24" pos="6244">
          <p15:clr>
            <a:srgbClr val="F26B43"/>
          </p15:clr>
        </p15:guide>
        <p15:guide id="25" pos="6698">
          <p15:clr>
            <a:srgbClr val="F26B43"/>
          </p15:clr>
        </p15:guide>
        <p15:guide id="26" pos="6834">
          <p15:clr>
            <a:srgbClr val="F26B43"/>
          </p15:clr>
        </p15:guide>
        <p15:guide id="27" orient="horz" pos="2160">
          <p15:clr>
            <a:srgbClr val="F26B43"/>
          </p15:clr>
        </p15:guide>
        <p15:guide id="28" orient="horz" pos="4065">
          <p15:clr>
            <a:srgbClr val="F26B43"/>
          </p15:clr>
        </p15:guide>
        <p15:guide id="29" orient="horz" pos="3816">
          <p15:clr>
            <a:srgbClr val="F26B43"/>
          </p15:clr>
        </p15:guide>
        <p15:guide id="30" orient="horz" pos="663">
          <p15:clr>
            <a:srgbClr val="F26B43"/>
          </p15:clr>
        </p15:guide>
        <p15:guide id="31" orient="horz" pos="550">
          <p15:clr>
            <a:srgbClr val="F26B43"/>
          </p15:clr>
        </p15:guide>
        <p15:guide id="32" orient="horz" pos="2341">
          <p15:clr>
            <a:srgbClr val="F26B43"/>
          </p15:clr>
        </p15:guide>
        <p15:guide id="34" orient="horz" pos="3680">
          <p15:clr>
            <a:srgbClr val="F26B43"/>
          </p15:clr>
        </p15:guide>
        <p15:guide id="35" orient="horz" pos="1094">
          <p15:clr>
            <a:srgbClr val="F26B43"/>
          </p15:clr>
        </p15:guide>
        <p15:guide id="36" orient="horz" pos="3543">
          <p15:clr>
            <a:srgbClr val="F26B43"/>
          </p15:clr>
        </p15:guide>
        <p15:guide id="37" orient="horz" pos="197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Titel der Präsentation • Vortragende • Seite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Grafik 5" descr="Ein Bild, das Schrift, Text, Grafiken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C1E9A706-75EA-7C72-AEB3-0663CE47AB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884" y="6288480"/>
            <a:ext cx="938516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4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8" r:id="rId2"/>
    <p:sldLayoutId id="2147483719" r:id="rId3"/>
    <p:sldLayoutId id="2147483721" r:id="rId4"/>
    <p:sldLayoutId id="2147483724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rgbClr val="00008C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rgbClr val="00008C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rgbClr val="00008C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8C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008C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008C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rgbClr val="00008C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rgbClr val="00008C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rgbClr val="00008C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008C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3" pos="384">
          <p15:clr>
            <a:srgbClr val="F26B43"/>
          </p15:clr>
        </p15:guide>
        <p15:guide id="4" pos="7296">
          <p15:clr>
            <a:srgbClr val="F26B43"/>
          </p15:clr>
        </p15:guide>
        <p15:guide id="5" pos="846">
          <p15:clr>
            <a:srgbClr val="F26B43"/>
          </p15:clr>
        </p15:guide>
        <p15:guide id="6" pos="982">
          <p15:clr>
            <a:srgbClr val="F26B43"/>
          </p15:clr>
        </p15:guide>
        <p15:guide id="7" pos="1436">
          <p15:clr>
            <a:srgbClr val="F26B43"/>
          </p15:clr>
        </p15:guide>
        <p15:guide id="8" pos="1560">
          <p15:clr>
            <a:srgbClr val="F26B43"/>
          </p15:clr>
        </p15:guide>
        <p15:guide id="9" pos="2026">
          <p15:clr>
            <a:srgbClr val="F26B43"/>
          </p15:clr>
        </p15:guide>
        <p15:guide id="10" pos="2139">
          <p15:clr>
            <a:srgbClr val="F26B43"/>
          </p15:clr>
        </p15:guide>
        <p15:guide id="11" pos="2593">
          <p15:clr>
            <a:srgbClr val="F26B43"/>
          </p15:clr>
        </p15:guide>
        <p15:guide id="12" pos="2736">
          <p15:clr>
            <a:srgbClr val="F26B43"/>
          </p15:clr>
        </p15:guide>
        <p15:guide id="13" pos="3182">
          <p15:clr>
            <a:srgbClr val="F26B43"/>
          </p15:clr>
        </p15:guide>
        <p15:guide id="14" pos="3318">
          <p15:clr>
            <a:srgbClr val="F26B43"/>
          </p15:clr>
        </p15:guide>
        <p15:guide id="15" pos="3772">
          <p15:clr>
            <a:srgbClr val="F26B43"/>
          </p15:clr>
        </p15:guide>
        <p15:guide id="16" pos="3908">
          <p15:clr>
            <a:srgbClr val="F26B43"/>
          </p15:clr>
        </p15:guide>
        <p15:guide id="17" pos="4362">
          <p15:clr>
            <a:srgbClr val="F26B43"/>
          </p15:clr>
        </p15:guide>
        <p15:guide id="18" pos="4498">
          <p15:clr>
            <a:srgbClr val="F26B43"/>
          </p15:clr>
        </p15:guide>
        <p15:guide id="19" pos="4951">
          <p15:clr>
            <a:srgbClr val="F26B43"/>
          </p15:clr>
        </p15:guide>
        <p15:guide id="20" pos="5087">
          <p15:clr>
            <a:srgbClr val="F26B43"/>
          </p15:clr>
        </p15:guide>
        <p15:guide id="21" pos="5541">
          <p15:clr>
            <a:srgbClr val="F26B43"/>
          </p15:clr>
        </p15:guide>
        <p15:guide id="22" pos="5654">
          <p15:clr>
            <a:srgbClr val="F26B43"/>
          </p15:clr>
        </p15:guide>
        <p15:guide id="23" pos="6120">
          <p15:clr>
            <a:srgbClr val="F26B43"/>
          </p15:clr>
        </p15:guide>
        <p15:guide id="24" pos="6244">
          <p15:clr>
            <a:srgbClr val="F26B43"/>
          </p15:clr>
        </p15:guide>
        <p15:guide id="25" pos="6698">
          <p15:clr>
            <a:srgbClr val="F26B43"/>
          </p15:clr>
        </p15:guide>
        <p15:guide id="26" pos="6834">
          <p15:clr>
            <a:srgbClr val="F26B43"/>
          </p15:clr>
        </p15:guide>
        <p15:guide id="27" orient="horz" pos="2160">
          <p15:clr>
            <a:srgbClr val="F26B43"/>
          </p15:clr>
        </p15:guide>
        <p15:guide id="28" orient="horz" pos="4065">
          <p15:clr>
            <a:srgbClr val="F26B43"/>
          </p15:clr>
        </p15:guide>
        <p15:guide id="29" orient="horz" pos="3816">
          <p15:clr>
            <a:srgbClr val="F26B43"/>
          </p15:clr>
        </p15:guide>
        <p15:guide id="30" orient="horz" pos="663">
          <p15:clr>
            <a:srgbClr val="F26B43"/>
          </p15:clr>
        </p15:guide>
        <p15:guide id="31" orient="horz" pos="550">
          <p15:clr>
            <a:srgbClr val="F26B43"/>
          </p15:clr>
        </p15:guide>
        <p15:guide id="32" orient="horz" pos="2341">
          <p15:clr>
            <a:srgbClr val="F26B43"/>
          </p15:clr>
        </p15:guide>
        <p15:guide id="34" orient="horz" pos="3680">
          <p15:clr>
            <a:srgbClr val="F26B43"/>
          </p15:clr>
        </p15:guide>
        <p15:guide id="35" orient="horz" pos="1094">
          <p15:clr>
            <a:srgbClr val="F26B43"/>
          </p15:clr>
        </p15:guide>
        <p15:guide id="36" orient="horz" pos="3543">
          <p15:clr>
            <a:srgbClr val="F26B43"/>
          </p15:clr>
        </p15:guide>
        <p15:guide id="37" orient="horz" pos="197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B4A005-D83C-4742-7686-8048B6ECF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Prozess </a:t>
            </a:r>
            <a:r>
              <a:rPr lang="de-DE" dirty="0" err="1"/>
              <a:t>flow</a:t>
            </a:r>
            <a:r>
              <a:rPr lang="de-DE" dirty="0"/>
              <a:t> IGZO-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devices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C508CF-D42D-3A36-8D44-8AA7E5BF4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1249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06829-C7D1-29E7-568E-3883E29E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IGZO </a:t>
            </a:r>
            <a:r>
              <a:rPr lang="de-DE" dirty="0" err="1"/>
              <a:t>memristors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415245-06DF-400F-089F-DB5343C48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0800" y="1736725"/>
            <a:ext cx="4616900" cy="4105275"/>
          </a:xfrm>
        </p:spPr>
        <p:txBody>
          <a:bodyPr/>
          <a:lstStyle/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Si/SiO</a:t>
            </a:r>
            <a:r>
              <a:rPr lang="de-DE" sz="1600" b="1" baseline="-25000" dirty="0"/>
              <a:t>2</a:t>
            </a:r>
            <a:r>
              <a:rPr lang="de-DE" sz="1600" b="1" dirty="0"/>
              <a:t> substrate </a:t>
            </a:r>
            <a:r>
              <a:rPr lang="de-DE" sz="1600" dirty="0"/>
              <a:t>(2,5x2,5 cm²)</a:t>
            </a:r>
          </a:p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Bottom </a:t>
            </a:r>
            <a:r>
              <a:rPr lang="de-DE" sz="1600" b="1" dirty="0" err="1"/>
              <a:t>electrodes</a:t>
            </a:r>
            <a:r>
              <a:rPr lang="de-DE" sz="1600" b="1" dirty="0"/>
              <a:t> </a:t>
            </a:r>
            <a:br>
              <a:rPr lang="de-DE" sz="1600" dirty="0"/>
            </a:br>
            <a:r>
              <a:rPr lang="de-DE" sz="1600" dirty="0"/>
              <a:t>FHR PVD </a:t>
            </a:r>
            <a:br>
              <a:rPr lang="de-DE" sz="1600" dirty="0"/>
            </a:br>
            <a:r>
              <a:rPr lang="de-DE" sz="1600" dirty="0"/>
              <a:t>E-beam </a:t>
            </a:r>
            <a:r>
              <a:rPr lang="de-DE" sz="1600" dirty="0" err="1"/>
              <a:t>evaporation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Pt + </a:t>
            </a:r>
            <a:r>
              <a:rPr lang="de-DE" sz="1600" dirty="0" err="1"/>
              <a:t>Liftoff</a:t>
            </a:r>
            <a:endParaRPr lang="de-DE" sz="1600" dirty="0"/>
          </a:p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IGZO</a:t>
            </a:r>
            <a:br>
              <a:rPr lang="de-DE" sz="1600" b="1" dirty="0"/>
            </a:br>
            <a:r>
              <a:rPr lang="de-DE" sz="1600" dirty="0"/>
              <a:t>FHR PVD</a:t>
            </a:r>
            <a:br>
              <a:rPr lang="de-DE" sz="1600" dirty="0"/>
            </a:br>
            <a:r>
              <a:rPr lang="de-DE" sz="1600" dirty="0" err="1"/>
              <a:t>Sputtering</a:t>
            </a:r>
            <a:r>
              <a:rPr lang="de-DE" sz="1600" dirty="0"/>
              <a:t> </a:t>
            </a:r>
            <a:r>
              <a:rPr lang="de-DE" sz="1600" dirty="0" err="1"/>
              <a:t>from</a:t>
            </a:r>
            <a:r>
              <a:rPr lang="de-DE" sz="1600" dirty="0"/>
              <a:t> IGZO </a:t>
            </a:r>
            <a:r>
              <a:rPr lang="de-DE" sz="1600" dirty="0" err="1"/>
              <a:t>target</a:t>
            </a:r>
            <a:r>
              <a:rPr lang="de-DE" sz="1600" dirty="0"/>
              <a:t> + </a:t>
            </a:r>
            <a:r>
              <a:rPr lang="de-DE" sz="1600" dirty="0" err="1"/>
              <a:t>Liftoff</a:t>
            </a:r>
            <a:endParaRPr lang="de-DE" sz="1600" dirty="0"/>
          </a:p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Top </a:t>
            </a:r>
            <a:r>
              <a:rPr lang="de-DE" sz="1600" b="1" dirty="0" err="1"/>
              <a:t>electrodes</a:t>
            </a:r>
            <a:br>
              <a:rPr lang="de-DE" sz="1600" b="1" dirty="0"/>
            </a:br>
            <a:r>
              <a:rPr lang="de-DE" sz="1600" dirty="0"/>
              <a:t>FHR PVD</a:t>
            </a:r>
            <a:br>
              <a:rPr lang="de-DE" sz="1600" dirty="0"/>
            </a:br>
            <a:r>
              <a:rPr lang="de-DE" sz="1600" dirty="0"/>
              <a:t>E-Beam </a:t>
            </a:r>
            <a:r>
              <a:rPr lang="de-DE" sz="1600" dirty="0" err="1"/>
              <a:t>evaporation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Ti + </a:t>
            </a:r>
            <a:r>
              <a:rPr lang="de-DE" sz="1600" dirty="0" err="1"/>
              <a:t>Liftoff</a:t>
            </a:r>
            <a:endParaRPr lang="de-DE" sz="1600" b="1" dirty="0"/>
          </a:p>
          <a:p>
            <a:pPr marL="457200" indent="-457200">
              <a:spcBef>
                <a:spcPts val="0"/>
              </a:spcBef>
              <a:buAutoNum type="arabicPeriod"/>
            </a:pPr>
            <a:endParaRPr lang="de-DE" sz="16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C55C44E-77D4-C031-6A15-8630CC6C2054}"/>
              </a:ext>
            </a:extLst>
          </p:cNvPr>
          <p:cNvSpPr/>
          <p:nvPr/>
        </p:nvSpPr>
        <p:spPr>
          <a:xfrm>
            <a:off x="609600" y="5346700"/>
            <a:ext cx="3333750" cy="495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Si/SiO</a:t>
            </a:r>
            <a:r>
              <a:rPr lang="de-DE" baseline="-25000" dirty="0">
                <a:solidFill>
                  <a:schemeClr val="tx1"/>
                </a:solidFill>
              </a:rPr>
              <a:t>2</a:t>
            </a:r>
            <a:r>
              <a:rPr lang="de-DE" dirty="0">
                <a:solidFill>
                  <a:schemeClr val="tx1"/>
                </a:solidFill>
              </a:rPr>
              <a:t> substrate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B00BF5B-E012-7D89-E49B-220364D3EAA0}"/>
              </a:ext>
            </a:extLst>
          </p:cNvPr>
          <p:cNvSpPr/>
          <p:nvPr/>
        </p:nvSpPr>
        <p:spPr>
          <a:xfrm>
            <a:off x="4362450" y="2962000"/>
            <a:ext cx="2880000" cy="28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FD9D301-0712-5295-4D0D-E67A6EEE8DD0}"/>
              </a:ext>
            </a:extLst>
          </p:cNvPr>
          <p:cNvSpPr/>
          <p:nvPr/>
        </p:nvSpPr>
        <p:spPr>
          <a:xfrm>
            <a:off x="892175" y="4923200"/>
            <a:ext cx="2768600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D766DF5-A40A-D9EC-F102-BA2DD73A496C}"/>
              </a:ext>
            </a:extLst>
          </p:cNvPr>
          <p:cNvSpPr/>
          <p:nvPr/>
        </p:nvSpPr>
        <p:spPr>
          <a:xfrm>
            <a:off x="1683250" y="4563200"/>
            <a:ext cx="1186450" cy="36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IGZO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C548753C-E42C-8442-CC03-1249D81CFDDE}"/>
              </a:ext>
            </a:extLst>
          </p:cNvPr>
          <p:cNvGrpSpPr/>
          <p:nvPr/>
        </p:nvGrpSpPr>
        <p:grpSpPr>
          <a:xfrm>
            <a:off x="5538925" y="3254963"/>
            <a:ext cx="527050" cy="2294075"/>
            <a:chOff x="5538925" y="3230425"/>
            <a:chExt cx="527050" cy="22940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" name="Rechteck: obere Ecken abgeschnitten 7">
              <a:extLst>
                <a:ext uri="{FF2B5EF4-FFF2-40B4-BE49-F238E27FC236}">
                  <a16:creationId xmlns:a16="http://schemas.microsoft.com/office/drawing/2014/main" id="{7E2734CE-D124-4E8A-0C77-390E0FB2AA47}"/>
                </a:ext>
              </a:extLst>
            </p:cNvPr>
            <p:cNvSpPr/>
            <p:nvPr/>
          </p:nvSpPr>
          <p:spPr>
            <a:xfrm>
              <a:off x="5538925" y="5041900"/>
              <a:ext cx="527050" cy="482600"/>
            </a:xfrm>
            <a:prstGeom prst="snip2SameRect">
              <a:avLst>
                <a:gd name="adj1" fmla="val 35526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0A4D311-FFB1-F757-E20B-79A9ACD24702}"/>
                </a:ext>
              </a:extLst>
            </p:cNvPr>
            <p:cNvSpPr/>
            <p:nvPr/>
          </p:nvSpPr>
          <p:spPr>
            <a:xfrm>
              <a:off x="5757275" y="3713025"/>
              <a:ext cx="90350" cy="1328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: obere Ecken abgeschnitten 13">
              <a:extLst>
                <a:ext uri="{FF2B5EF4-FFF2-40B4-BE49-F238E27FC236}">
                  <a16:creationId xmlns:a16="http://schemas.microsoft.com/office/drawing/2014/main" id="{4444E546-FD52-3F5E-2B91-974D454E5F40}"/>
                </a:ext>
              </a:extLst>
            </p:cNvPr>
            <p:cNvSpPr/>
            <p:nvPr/>
          </p:nvSpPr>
          <p:spPr>
            <a:xfrm rot="10800000">
              <a:off x="5538925" y="3230425"/>
              <a:ext cx="527050" cy="482600"/>
            </a:xfrm>
            <a:prstGeom prst="snip2SameRect">
              <a:avLst>
                <a:gd name="adj1" fmla="val 35526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2" name="Rechteck 11">
            <a:extLst>
              <a:ext uri="{FF2B5EF4-FFF2-40B4-BE49-F238E27FC236}">
                <a16:creationId xmlns:a16="http://schemas.microsoft.com/office/drawing/2014/main" id="{678830E4-DACD-6C1F-9886-E211727FAA7B}"/>
              </a:ext>
            </a:extLst>
          </p:cNvPr>
          <p:cNvSpPr/>
          <p:nvPr/>
        </p:nvSpPr>
        <p:spPr>
          <a:xfrm>
            <a:off x="5442450" y="4042000"/>
            <a:ext cx="720000" cy="720000"/>
          </a:xfrm>
          <a:prstGeom prst="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B06DD20-371B-0668-3D96-594BBCD60D50}"/>
              </a:ext>
            </a:extLst>
          </p:cNvPr>
          <p:cNvSpPr/>
          <p:nvPr/>
        </p:nvSpPr>
        <p:spPr>
          <a:xfrm>
            <a:off x="1957138" y="4203200"/>
            <a:ext cx="638675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890EB48-5221-ACFD-1379-7190F03BF0F2}"/>
              </a:ext>
            </a:extLst>
          </p:cNvPr>
          <p:cNvGrpSpPr/>
          <p:nvPr/>
        </p:nvGrpSpPr>
        <p:grpSpPr>
          <a:xfrm rot="5400000">
            <a:off x="5538925" y="3254963"/>
            <a:ext cx="527050" cy="2294075"/>
            <a:chOff x="5538925" y="3230425"/>
            <a:chExt cx="527050" cy="22940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8" name="Rechteck: obere Ecken abgeschnitten 17">
              <a:extLst>
                <a:ext uri="{FF2B5EF4-FFF2-40B4-BE49-F238E27FC236}">
                  <a16:creationId xmlns:a16="http://schemas.microsoft.com/office/drawing/2014/main" id="{C07E10A8-3B73-4AF6-666B-DE6ED1E2309E}"/>
                </a:ext>
              </a:extLst>
            </p:cNvPr>
            <p:cNvSpPr/>
            <p:nvPr/>
          </p:nvSpPr>
          <p:spPr>
            <a:xfrm>
              <a:off x="5538925" y="5041900"/>
              <a:ext cx="527050" cy="482600"/>
            </a:xfrm>
            <a:prstGeom prst="snip2SameRect">
              <a:avLst>
                <a:gd name="adj1" fmla="val 35526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8276EA1A-F83B-BA89-9ADE-8D276F963EDE}"/>
                </a:ext>
              </a:extLst>
            </p:cNvPr>
            <p:cNvSpPr/>
            <p:nvPr/>
          </p:nvSpPr>
          <p:spPr>
            <a:xfrm>
              <a:off x="5757275" y="3713025"/>
              <a:ext cx="90350" cy="1328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: obere Ecken abgeschnitten 19">
              <a:extLst>
                <a:ext uri="{FF2B5EF4-FFF2-40B4-BE49-F238E27FC236}">
                  <a16:creationId xmlns:a16="http://schemas.microsoft.com/office/drawing/2014/main" id="{3062868E-71B6-CDEE-59EF-B87E20002147}"/>
                </a:ext>
              </a:extLst>
            </p:cNvPr>
            <p:cNvSpPr/>
            <p:nvPr/>
          </p:nvSpPr>
          <p:spPr>
            <a:xfrm rot="10800000">
              <a:off x="5538925" y="3230425"/>
              <a:ext cx="527050" cy="482600"/>
            </a:xfrm>
            <a:prstGeom prst="snip2SameRect">
              <a:avLst>
                <a:gd name="adj1" fmla="val 35526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1" name="Rechteck 20">
            <a:extLst>
              <a:ext uri="{FF2B5EF4-FFF2-40B4-BE49-F238E27FC236}">
                <a16:creationId xmlns:a16="http://schemas.microsoft.com/office/drawing/2014/main" id="{59ABFFDC-8493-5F7B-CE5E-01EA73ED89F6}"/>
              </a:ext>
            </a:extLst>
          </p:cNvPr>
          <p:cNvSpPr/>
          <p:nvPr/>
        </p:nvSpPr>
        <p:spPr>
          <a:xfrm>
            <a:off x="609600" y="5283200"/>
            <a:ext cx="3333750" cy="63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36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2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8496E3D9-9F05-8A75-4D96-B16E815A85DC}"/>
              </a:ext>
            </a:extLst>
          </p:cNvPr>
          <p:cNvSpPr/>
          <p:nvPr/>
        </p:nvSpPr>
        <p:spPr>
          <a:xfrm>
            <a:off x="921793" y="4380622"/>
            <a:ext cx="2686050" cy="539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F06829-C7D1-29E7-568E-3883E29E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IGZO </a:t>
            </a:r>
            <a:r>
              <a:rPr lang="de-DE" dirty="0" err="1"/>
              <a:t>transistors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C55C44E-77D4-C031-6A15-8630CC6C2054}"/>
              </a:ext>
            </a:extLst>
          </p:cNvPr>
          <p:cNvSpPr/>
          <p:nvPr/>
        </p:nvSpPr>
        <p:spPr>
          <a:xfrm>
            <a:off x="609600" y="5346700"/>
            <a:ext cx="3333750" cy="495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Si/SiO</a:t>
            </a:r>
            <a:r>
              <a:rPr lang="de-DE" baseline="-25000" dirty="0">
                <a:solidFill>
                  <a:schemeClr val="tx1"/>
                </a:solidFill>
              </a:rPr>
              <a:t>2</a:t>
            </a:r>
            <a:r>
              <a:rPr lang="de-DE" dirty="0">
                <a:solidFill>
                  <a:schemeClr val="tx1"/>
                </a:solidFill>
              </a:rPr>
              <a:t> substrate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B00BF5B-E012-7D89-E49B-220364D3EAA0}"/>
              </a:ext>
            </a:extLst>
          </p:cNvPr>
          <p:cNvSpPr/>
          <p:nvPr/>
        </p:nvSpPr>
        <p:spPr>
          <a:xfrm>
            <a:off x="4362450" y="2962000"/>
            <a:ext cx="2880000" cy="28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D766DF5-A40A-D9EC-F102-BA2DD73A496C}"/>
              </a:ext>
            </a:extLst>
          </p:cNvPr>
          <p:cNvSpPr/>
          <p:nvPr/>
        </p:nvSpPr>
        <p:spPr>
          <a:xfrm>
            <a:off x="1096489" y="4644480"/>
            <a:ext cx="2359972" cy="638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IGZO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B06DD20-371B-0668-3D96-594BBCD60D50}"/>
              </a:ext>
            </a:extLst>
          </p:cNvPr>
          <p:cNvSpPr/>
          <p:nvPr/>
        </p:nvSpPr>
        <p:spPr>
          <a:xfrm>
            <a:off x="1395764" y="4020622"/>
            <a:ext cx="1761422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9ABFFDC-8493-5F7B-CE5E-01EA73ED89F6}"/>
              </a:ext>
            </a:extLst>
          </p:cNvPr>
          <p:cNvSpPr/>
          <p:nvPr/>
        </p:nvSpPr>
        <p:spPr>
          <a:xfrm>
            <a:off x="609600" y="5283200"/>
            <a:ext cx="3333750" cy="63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FD9D301-0712-5295-4D0D-E67A6EEE8DD0}"/>
              </a:ext>
            </a:extLst>
          </p:cNvPr>
          <p:cNvSpPr/>
          <p:nvPr/>
        </p:nvSpPr>
        <p:spPr>
          <a:xfrm>
            <a:off x="609600" y="4923200"/>
            <a:ext cx="883013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92B50AA-8581-1472-349F-C3A1CEA07530}"/>
              </a:ext>
            </a:extLst>
          </p:cNvPr>
          <p:cNvSpPr/>
          <p:nvPr/>
        </p:nvSpPr>
        <p:spPr>
          <a:xfrm>
            <a:off x="3060338" y="4923200"/>
            <a:ext cx="883012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4BE6510-E7E7-53F8-9C54-93F6EDAC6009}"/>
              </a:ext>
            </a:extLst>
          </p:cNvPr>
          <p:cNvSpPr/>
          <p:nvPr/>
        </p:nvSpPr>
        <p:spPr>
          <a:xfrm>
            <a:off x="4601046" y="3695790"/>
            <a:ext cx="391128" cy="18973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3A6BA87-3EF4-CAB5-6EAE-AD1788742707}"/>
              </a:ext>
            </a:extLst>
          </p:cNvPr>
          <p:cNvSpPr/>
          <p:nvPr/>
        </p:nvSpPr>
        <p:spPr>
          <a:xfrm>
            <a:off x="6612726" y="3695790"/>
            <a:ext cx="391128" cy="18973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EF4B3DA-A92F-1B86-661D-C51A0D1290AB}"/>
              </a:ext>
            </a:extLst>
          </p:cNvPr>
          <p:cNvSpPr/>
          <p:nvPr/>
        </p:nvSpPr>
        <p:spPr>
          <a:xfrm>
            <a:off x="4601046" y="3695790"/>
            <a:ext cx="778674" cy="112649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9DD85D6-27F4-2288-FA24-342099D5599B}"/>
              </a:ext>
            </a:extLst>
          </p:cNvPr>
          <p:cNvSpPr/>
          <p:nvPr/>
        </p:nvSpPr>
        <p:spPr>
          <a:xfrm>
            <a:off x="6225180" y="3695790"/>
            <a:ext cx="778674" cy="112649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3EA70C2-8452-F036-DB04-29B9C43D91A0}"/>
              </a:ext>
            </a:extLst>
          </p:cNvPr>
          <p:cNvSpPr/>
          <p:nvPr/>
        </p:nvSpPr>
        <p:spPr>
          <a:xfrm>
            <a:off x="5121074" y="3695790"/>
            <a:ext cx="1363546" cy="1126490"/>
          </a:xfrm>
          <a:prstGeom prst="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86F9C7B-C485-4E94-E1DA-A126D28F52D1}"/>
              </a:ext>
            </a:extLst>
          </p:cNvPr>
          <p:cNvSpPr/>
          <p:nvPr/>
        </p:nvSpPr>
        <p:spPr>
          <a:xfrm>
            <a:off x="4459425" y="3479715"/>
            <a:ext cx="2686050" cy="155025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37E253A-B006-30D1-DC49-0B9D6108827C}"/>
              </a:ext>
            </a:extLst>
          </p:cNvPr>
          <p:cNvSpPr/>
          <p:nvPr/>
        </p:nvSpPr>
        <p:spPr>
          <a:xfrm>
            <a:off x="5303520" y="3316100"/>
            <a:ext cx="997860" cy="2277070"/>
          </a:xfrm>
          <a:prstGeom prst="rect">
            <a:avLst/>
          </a:prstGeom>
          <a:solidFill>
            <a:schemeClr val="tx1">
              <a:lumMod val="65000"/>
              <a:lumOff val="3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B362B86-20E9-ADF2-485E-D31FC2F426E7}"/>
              </a:ext>
            </a:extLst>
          </p:cNvPr>
          <p:cNvSpPr/>
          <p:nvPr/>
        </p:nvSpPr>
        <p:spPr>
          <a:xfrm>
            <a:off x="4601046" y="5246040"/>
            <a:ext cx="391128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E9AE9C0-E496-84E1-A92D-D0E07E1D8BEC}"/>
              </a:ext>
            </a:extLst>
          </p:cNvPr>
          <p:cNvSpPr/>
          <p:nvPr/>
        </p:nvSpPr>
        <p:spPr>
          <a:xfrm>
            <a:off x="6612726" y="5246040"/>
            <a:ext cx="391128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9D25B66-AC0B-7CC4-6A72-6B77AC10E4CC}"/>
              </a:ext>
            </a:extLst>
          </p:cNvPr>
          <p:cNvSpPr/>
          <p:nvPr/>
        </p:nvSpPr>
        <p:spPr>
          <a:xfrm>
            <a:off x="5606886" y="5246040"/>
            <a:ext cx="391128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6FAFF788-2C6E-35DD-E9AE-91B0C6CDE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0800" y="1736725"/>
            <a:ext cx="4616900" cy="4105275"/>
          </a:xfrm>
        </p:spPr>
        <p:txBody>
          <a:bodyPr/>
          <a:lstStyle/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Si/SiO</a:t>
            </a:r>
            <a:r>
              <a:rPr lang="de-DE" sz="1600" b="1" baseline="-25000" dirty="0"/>
              <a:t>2</a:t>
            </a:r>
            <a:r>
              <a:rPr lang="de-DE" sz="1600" b="1" dirty="0"/>
              <a:t> substrate </a:t>
            </a:r>
            <a:r>
              <a:rPr lang="de-DE" sz="1600" dirty="0"/>
              <a:t>(2,5x2,5 cm²)</a:t>
            </a:r>
          </a:p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Bottom source/drain </a:t>
            </a:r>
            <a:r>
              <a:rPr lang="de-DE" sz="1600" b="1" dirty="0" err="1"/>
              <a:t>electrodes</a:t>
            </a:r>
            <a:r>
              <a:rPr lang="de-DE" sz="1600" b="1" dirty="0"/>
              <a:t> </a:t>
            </a:r>
            <a:br>
              <a:rPr lang="de-DE" sz="1600" dirty="0"/>
            </a:br>
            <a:r>
              <a:rPr lang="de-DE" sz="1600" dirty="0"/>
              <a:t>FHR PVD </a:t>
            </a:r>
            <a:br>
              <a:rPr lang="de-DE" sz="1600" dirty="0"/>
            </a:br>
            <a:r>
              <a:rPr lang="de-DE" sz="1600" dirty="0"/>
              <a:t>E-beam </a:t>
            </a:r>
            <a:r>
              <a:rPr lang="de-DE" sz="1600" dirty="0" err="1"/>
              <a:t>evaporation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Pt + </a:t>
            </a:r>
            <a:r>
              <a:rPr lang="de-DE" sz="1600" dirty="0" err="1"/>
              <a:t>Liftoff</a:t>
            </a:r>
            <a:endParaRPr lang="de-DE" sz="1600" dirty="0"/>
          </a:p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IGZO</a:t>
            </a:r>
            <a:br>
              <a:rPr lang="de-DE" sz="1600" b="1" dirty="0"/>
            </a:br>
            <a:r>
              <a:rPr lang="de-DE" sz="1600" dirty="0"/>
              <a:t>FHR PVD</a:t>
            </a:r>
            <a:br>
              <a:rPr lang="de-DE" sz="1600" dirty="0"/>
            </a:br>
            <a:r>
              <a:rPr lang="de-DE" sz="1600" dirty="0" err="1"/>
              <a:t>Sputtering</a:t>
            </a:r>
            <a:r>
              <a:rPr lang="de-DE" sz="1600" dirty="0"/>
              <a:t> </a:t>
            </a:r>
            <a:r>
              <a:rPr lang="de-DE" sz="1600" dirty="0" err="1"/>
              <a:t>from</a:t>
            </a:r>
            <a:r>
              <a:rPr lang="de-DE" sz="1600" dirty="0"/>
              <a:t> IGZO </a:t>
            </a:r>
            <a:r>
              <a:rPr lang="de-DE" sz="1600" dirty="0" err="1"/>
              <a:t>target</a:t>
            </a:r>
            <a:r>
              <a:rPr lang="de-DE" sz="1600" dirty="0"/>
              <a:t> + </a:t>
            </a:r>
            <a:r>
              <a:rPr lang="de-DE" sz="1600" dirty="0" err="1"/>
              <a:t>Liftoff</a:t>
            </a:r>
            <a:endParaRPr lang="de-DE" sz="1600" b="1" dirty="0"/>
          </a:p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Gate </a:t>
            </a:r>
            <a:r>
              <a:rPr lang="de-DE" sz="1600" b="1" dirty="0" err="1"/>
              <a:t>oxide</a:t>
            </a:r>
            <a:br>
              <a:rPr lang="de-DE" sz="1600" b="1" dirty="0"/>
            </a:br>
            <a:r>
              <a:rPr lang="de-DE" sz="1600" dirty="0"/>
              <a:t>FHR ALD / </a:t>
            </a:r>
            <a:r>
              <a:rPr lang="de-DE" sz="1600" dirty="0" err="1"/>
              <a:t>Picosun</a:t>
            </a:r>
            <a:r>
              <a:rPr lang="de-DE" sz="1600" dirty="0"/>
              <a:t> ALD / </a:t>
            </a:r>
            <a:r>
              <a:rPr lang="de-DE" sz="1600" dirty="0" err="1"/>
              <a:t>Beneq</a:t>
            </a:r>
            <a:r>
              <a:rPr lang="de-DE" sz="1600" dirty="0"/>
              <a:t> ALD</a:t>
            </a:r>
            <a:br>
              <a:rPr lang="de-DE" sz="1600" b="1" dirty="0"/>
            </a:br>
            <a:r>
              <a:rPr lang="de-DE" sz="1600" dirty="0"/>
              <a:t>SiO</a:t>
            </a:r>
            <a:r>
              <a:rPr lang="de-DE" sz="1600" baseline="-25000" dirty="0"/>
              <a:t>2</a:t>
            </a:r>
            <a:r>
              <a:rPr lang="de-DE" sz="1600" dirty="0"/>
              <a:t>/Al</a:t>
            </a:r>
            <a:r>
              <a:rPr lang="de-DE" sz="1600" baseline="-25000" dirty="0"/>
              <a:t>2</a:t>
            </a:r>
            <a:r>
              <a:rPr lang="de-DE" sz="1600" dirty="0"/>
              <a:t>O</a:t>
            </a:r>
            <a:r>
              <a:rPr lang="de-DE" sz="1600" baseline="-25000" dirty="0"/>
              <a:t>3</a:t>
            </a:r>
            <a:r>
              <a:rPr lang="de-DE" sz="1600" dirty="0"/>
              <a:t>/HfO</a:t>
            </a:r>
            <a:r>
              <a:rPr lang="de-DE" sz="1600" baseline="-25000" dirty="0"/>
              <a:t>2</a:t>
            </a:r>
            <a:r>
              <a:rPr lang="de-DE" sz="1600" dirty="0"/>
              <a:t> + </a:t>
            </a:r>
            <a:r>
              <a:rPr lang="de-DE" sz="1600" dirty="0" err="1"/>
              <a:t>etch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HF</a:t>
            </a:r>
            <a:endParaRPr lang="de-DE" sz="1600" b="1" dirty="0"/>
          </a:p>
          <a:p>
            <a:pPr marL="358775" indent="-358775">
              <a:spcBef>
                <a:spcPts val="0"/>
              </a:spcBef>
              <a:buAutoNum type="arabicPeriod"/>
            </a:pPr>
            <a:r>
              <a:rPr lang="de-DE" sz="1600" b="1" dirty="0"/>
              <a:t>Top </a:t>
            </a:r>
            <a:r>
              <a:rPr lang="de-DE" sz="1600" b="1" dirty="0" err="1"/>
              <a:t>gate</a:t>
            </a:r>
            <a:r>
              <a:rPr lang="de-DE" sz="1600" b="1" dirty="0"/>
              <a:t> </a:t>
            </a:r>
            <a:r>
              <a:rPr lang="de-DE" sz="1600" b="1" dirty="0" err="1"/>
              <a:t>electrode</a:t>
            </a:r>
            <a:br>
              <a:rPr lang="de-DE" sz="1600" b="1" dirty="0"/>
            </a:br>
            <a:r>
              <a:rPr lang="de-DE" sz="1600" dirty="0"/>
              <a:t>FHR PVD</a:t>
            </a:r>
            <a:br>
              <a:rPr lang="de-DE" sz="1600" dirty="0"/>
            </a:br>
            <a:r>
              <a:rPr lang="de-DE" sz="1600" dirty="0"/>
              <a:t>E-Beam </a:t>
            </a:r>
            <a:r>
              <a:rPr lang="de-DE" sz="1600" dirty="0" err="1"/>
              <a:t>evaporation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Pt + </a:t>
            </a:r>
            <a:r>
              <a:rPr lang="de-DE" sz="1600" dirty="0" err="1"/>
              <a:t>Liftoff</a:t>
            </a:r>
            <a:endParaRPr lang="de-DE" sz="1600" b="1" dirty="0"/>
          </a:p>
          <a:p>
            <a:pPr marL="457200" indent="-457200">
              <a:spcBef>
                <a:spcPts val="0"/>
              </a:spcBef>
              <a:buAutoNum type="arabicPeriod"/>
            </a:pPr>
            <a:endParaRPr lang="de-DE" sz="1600" dirty="0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B4319136-7DF7-EC17-1C1E-7CE111D01994}"/>
              </a:ext>
            </a:extLst>
          </p:cNvPr>
          <p:cNvCxnSpPr>
            <a:cxnSpLocks/>
          </p:cNvCxnSpPr>
          <p:nvPr/>
        </p:nvCxnSpPr>
        <p:spPr>
          <a:xfrm>
            <a:off x="5379720" y="4711700"/>
            <a:ext cx="84546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83F72E9D-BBB6-D392-0FB0-8DC6EA7AC685}"/>
              </a:ext>
            </a:extLst>
          </p:cNvPr>
          <p:cNvCxnSpPr>
            <a:cxnSpLocks/>
          </p:cNvCxnSpPr>
          <p:nvPr/>
        </p:nvCxnSpPr>
        <p:spPr>
          <a:xfrm>
            <a:off x="5519875" y="3695790"/>
            <a:ext cx="0" cy="112649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091CC214-9ADC-F5E9-FD5D-8DD1E61E68E8}"/>
              </a:ext>
            </a:extLst>
          </p:cNvPr>
          <p:cNvSpPr/>
          <p:nvPr/>
        </p:nvSpPr>
        <p:spPr>
          <a:xfrm>
            <a:off x="5452343" y="3867953"/>
            <a:ext cx="590322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</a:t>
            </a:r>
            <a:r>
              <a:rPr lang="de-DE" baseline="-25000" dirty="0">
                <a:solidFill>
                  <a:schemeClr val="tx1"/>
                </a:solidFill>
              </a:rPr>
              <a:t>ch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1D3A7FB-E3C1-B0D0-8B4E-0FB8A178BEB2}"/>
              </a:ext>
            </a:extLst>
          </p:cNvPr>
          <p:cNvSpPr/>
          <p:nvPr/>
        </p:nvSpPr>
        <p:spPr>
          <a:xfrm>
            <a:off x="5571570" y="4380622"/>
            <a:ext cx="590322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</a:t>
            </a:r>
            <a:r>
              <a:rPr lang="de-DE" baseline="-25000" dirty="0">
                <a:solidFill>
                  <a:schemeClr val="tx1"/>
                </a:solidFill>
              </a:rPr>
              <a:t>ch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37E5408D-18A3-61C5-BDD7-0C3D2D5D181E}"/>
              </a:ext>
            </a:extLst>
          </p:cNvPr>
          <p:cNvCxnSpPr>
            <a:cxnSpLocks/>
          </p:cNvCxnSpPr>
          <p:nvPr/>
        </p:nvCxnSpPr>
        <p:spPr>
          <a:xfrm>
            <a:off x="1492613" y="5168268"/>
            <a:ext cx="156772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AD984DA1-B1C7-CA01-7FCB-657E1EA6B89F}"/>
              </a:ext>
            </a:extLst>
          </p:cNvPr>
          <p:cNvSpPr/>
          <p:nvPr/>
        </p:nvSpPr>
        <p:spPr>
          <a:xfrm>
            <a:off x="1415802" y="4843902"/>
            <a:ext cx="590322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</a:t>
            </a:r>
            <a:r>
              <a:rPr lang="de-DE" baseline="-25000" dirty="0">
                <a:solidFill>
                  <a:schemeClr val="tx1"/>
                </a:solidFill>
              </a:rPr>
              <a:t>ch</a:t>
            </a:r>
          </a:p>
        </p:txBody>
      </p:sp>
    </p:spTree>
    <p:extLst>
      <p:ext uri="{BB962C8B-B14F-4D97-AF65-F5344CB8AC3E}">
        <p14:creationId xmlns:p14="http://schemas.microsoft.com/office/powerpoint/2010/main" val="36472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6" grpId="0" animBg="1"/>
      <p:bldP spid="11" grpId="0" animBg="1"/>
      <p:bldP spid="6" grpId="0" animBg="1"/>
      <p:bldP spid="22" grpId="0" animBg="1"/>
      <p:bldP spid="23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43" grpId="0"/>
      <p:bldP spid="44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hteck 15">
            <a:extLst>
              <a:ext uri="{FF2B5EF4-FFF2-40B4-BE49-F238E27FC236}">
                <a16:creationId xmlns:a16="http://schemas.microsoft.com/office/drawing/2014/main" id="{D7C8D1E2-9399-531A-3AD8-2C38331F9FBE}"/>
              </a:ext>
            </a:extLst>
          </p:cNvPr>
          <p:cNvSpPr/>
          <p:nvPr/>
        </p:nvSpPr>
        <p:spPr>
          <a:xfrm>
            <a:off x="7815125" y="1896192"/>
            <a:ext cx="887881" cy="18050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34" name="Rechteck 15">
            <a:extLst>
              <a:ext uri="{FF2B5EF4-FFF2-40B4-BE49-F238E27FC236}">
                <a16:creationId xmlns:a16="http://schemas.microsoft.com/office/drawing/2014/main" id="{7168127F-67BA-4A40-4BCB-FEDF0EB0144B}"/>
              </a:ext>
            </a:extLst>
          </p:cNvPr>
          <p:cNvSpPr/>
          <p:nvPr/>
        </p:nvSpPr>
        <p:spPr>
          <a:xfrm>
            <a:off x="7815126" y="2300681"/>
            <a:ext cx="798159" cy="13936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sp>
        <p:nvSpPr>
          <p:cNvPr id="30" name="Rechteck 15">
            <a:extLst>
              <a:ext uri="{FF2B5EF4-FFF2-40B4-BE49-F238E27FC236}">
                <a16:creationId xmlns:a16="http://schemas.microsoft.com/office/drawing/2014/main" id="{E0BE1ADB-CFDF-A233-F081-3730143E614A}"/>
              </a:ext>
            </a:extLst>
          </p:cNvPr>
          <p:cNvSpPr/>
          <p:nvPr/>
        </p:nvSpPr>
        <p:spPr>
          <a:xfrm>
            <a:off x="5648471" y="1932882"/>
            <a:ext cx="880917" cy="17614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29" name="Rechteck 15">
            <a:extLst>
              <a:ext uri="{FF2B5EF4-FFF2-40B4-BE49-F238E27FC236}">
                <a16:creationId xmlns:a16="http://schemas.microsoft.com/office/drawing/2014/main" id="{E38B13A7-25A3-61C4-6C73-2DAC52FB39A5}"/>
              </a:ext>
            </a:extLst>
          </p:cNvPr>
          <p:cNvSpPr/>
          <p:nvPr/>
        </p:nvSpPr>
        <p:spPr>
          <a:xfrm>
            <a:off x="5746748" y="2300681"/>
            <a:ext cx="792017" cy="13936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sp>
        <p:nvSpPr>
          <p:cNvPr id="24" name="Rechteck 8">
            <a:extLst>
              <a:ext uri="{FF2B5EF4-FFF2-40B4-BE49-F238E27FC236}">
                <a16:creationId xmlns:a16="http://schemas.microsoft.com/office/drawing/2014/main" id="{29C710FE-A45F-D130-1FB7-BDA7CDE1437F}"/>
              </a:ext>
            </a:extLst>
          </p:cNvPr>
          <p:cNvSpPr/>
          <p:nvPr/>
        </p:nvSpPr>
        <p:spPr>
          <a:xfrm>
            <a:off x="5584068" y="3695882"/>
            <a:ext cx="917140" cy="5423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9D590-FACF-AAC9-5813-C8CB0F81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hteck 8">
            <a:extLst>
              <a:ext uri="{FF2B5EF4-FFF2-40B4-BE49-F238E27FC236}">
                <a16:creationId xmlns:a16="http://schemas.microsoft.com/office/drawing/2014/main" id="{137CE621-2305-05DA-4943-F1302D9F8FFA}"/>
              </a:ext>
            </a:extLst>
          </p:cNvPr>
          <p:cNvSpPr/>
          <p:nvPr/>
        </p:nvSpPr>
        <p:spPr>
          <a:xfrm>
            <a:off x="1670541" y="3333700"/>
            <a:ext cx="2686050" cy="539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5" name="Rechteck 3">
            <a:extLst>
              <a:ext uri="{FF2B5EF4-FFF2-40B4-BE49-F238E27FC236}">
                <a16:creationId xmlns:a16="http://schemas.microsoft.com/office/drawing/2014/main" id="{DAA58F8D-652C-6221-71F2-2062CFDD94C5}"/>
              </a:ext>
            </a:extLst>
          </p:cNvPr>
          <p:cNvSpPr/>
          <p:nvPr/>
        </p:nvSpPr>
        <p:spPr>
          <a:xfrm>
            <a:off x="1358348" y="4299778"/>
            <a:ext cx="3333750" cy="495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Si/SiO</a:t>
            </a:r>
            <a:r>
              <a:rPr lang="de-DE" baseline="-25000" dirty="0">
                <a:solidFill>
                  <a:schemeClr val="tx1"/>
                </a:solidFill>
              </a:rPr>
              <a:t>2</a:t>
            </a:r>
            <a:r>
              <a:rPr lang="de-DE" dirty="0">
                <a:solidFill>
                  <a:schemeClr val="tx1"/>
                </a:solidFill>
              </a:rPr>
              <a:t> substrate</a:t>
            </a:r>
          </a:p>
        </p:txBody>
      </p:sp>
      <p:sp>
        <p:nvSpPr>
          <p:cNvPr id="6" name="Rechteck 12">
            <a:extLst>
              <a:ext uri="{FF2B5EF4-FFF2-40B4-BE49-F238E27FC236}">
                <a16:creationId xmlns:a16="http://schemas.microsoft.com/office/drawing/2014/main" id="{092A90D2-20FD-FCB3-7F01-B1C160B0742A}"/>
              </a:ext>
            </a:extLst>
          </p:cNvPr>
          <p:cNvSpPr/>
          <p:nvPr/>
        </p:nvSpPr>
        <p:spPr>
          <a:xfrm>
            <a:off x="1845237" y="3597558"/>
            <a:ext cx="2359972" cy="638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IGZO</a:t>
            </a:r>
          </a:p>
        </p:txBody>
      </p:sp>
      <p:sp>
        <p:nvSpPr>
          <p:cNvPr id="7" name="Rechteck 15">
            <a:extLst>
              <a:ext uri="{FF2B5EF4-FFF2-40B4-BE49-F238E27FC236}">
                <a16:creationId xmlns:a16="http://schemas.microsoft.com/office/drawing/2014/main" id="{B9898F51-80D7-15FA-5E03-566C45B391B3}"/>
              </a:ext>
            </a:extLst>
          </p:cNvPr>
          <p:cNvSpPr/>
          <p:nvPr/>
        </p:nvSpPr>
        <p:spPr>
          <a:xfrm>
            <a:off x="2144512" y="2973700"/>
            <a:ext cx="1761422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8" name="Rechteck 20">
            <a:extLst>
              <a:ext uri="{FF2B5EF4-FFF2-40B4-BE49-F238E27FC236}">
                <a16:creationId xmlns:a16="http://schemas.microsoft.com/office/drawing/2014/main" id="{0A89DFBC-A08E-5ED0-BC3B-90E8F9518FAB}"/>
              </a:ext>
            </a:extLst>
          </p:cNvPr>
          <p:cNvSpPr/>
          <p:nvPr/>
        </p:nvSpPr>
        <p:spPr>
          <a:xfrm>
            <a:off x="1358348" y="4236278"/>
            <a:ext cx="3333750" cy="63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482DB07A-444A-64E6-5424-FE51089A1509}"/>
              </a:ext>
            </a:extLst>
          </p:cNvPr>
          <p:cNvSpPr/>
          <p:nvPr/>
        </p:nvSpPr>
        <p:spPr>
          <a:xfrm>
            <a:off x="1358348" y="3876278"/>
            <a:ext cx="883013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10" name="Rechteck 5">
            <a:extLst>
              <a:ext uri="{FF2B5EF4-FFF2-40B4-BE49-F238E27FC236}">
                <a16:creationId xmlns:a16="http://schemas.microsoft.com/office/drawing/2014/main" id="{9D985E46-22E6-859D-C802-4FAE5E6EC8FB}"/>
              </a:ext>
            </a:extLst>
          </p:cNvPr>
          <p:cNvSpPr/>
          <p:nvPr/>
        </p:nvSpPr>
        <p:spPr>
          <a:xfrm>
            <a:off x="3809086" y="3876278"/>
            <a:ext cx="883012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cxnSp>
        <p:nvCxnSpPr>
          <p:cNvPr id="11" name="Gerade Verbindung mit Pfeil 44">
            <a:extLst>
              <a:ext uri="{FF2B5EF4-FFF2-40B4-BE49-F238E27FC236}">
                <a16:creationId xmlns:a16="http://schemas.microsoft.com/office/drawing/2014/main" id="{09B793FB-68C8-F5CA-8C26-AD36E71B1635}"/>
              </a:ext>
            </a:extLst>
          </p:cNvPr>
          <p:cNvCxnSpPr>
            <a:cxnSpLocks/>
          </p:cNvCxnSpPr>
          <p:nvPr/>
        </p:nvCxnSpPr>
        <p:spPr>
          <a:xfrm>
            <a:off x="2241361" y="4121346"/>
            <a:ext cx="156772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45">
            <a:extLst>
              <a:ext uri="{FF2B5EF4-FFF2-40B4-BE49-F238E27FC236}">
                <a16:creationId xmlns:a16="http://schemas.microsoft.com/office/drawing/2014/main" id="{BCE6F969-BC7A-6324-3C14-6A70EBD7A32C}"/>
              </a:ext>
            </a:extLst>
          </p:cNvPr>
          <p:cNvSpPr/>
          <p:nvPr/>
        </p:nvSpPr>
        <p:spPr>
          <a:xfrm>
            <a:off x="2164550" y="3796980"/>
            <a:ext cx="590322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</a:t>
            </a:r>
            <a:r>
              <a:rPr lang="de-DE" baseline="-25000" dirty="0">
                <a:solidFill>
                  <a:schemeClr val="tx1"/>
                </a:solidFill>
              </a:rPr>
              <a:t>ch</a:t>
            </a:r>
          </a:p>
        </p:txBody>
      </p:sp>
      <p:sp>
        <p:nvSpPr>
          <p:cNvPr id="13" name="Rechteck 8">
            <a:extLst>
              <a:ext uri="{FF2B5EF4-FFF2-40B4-BE49-F238E27FC236}">
                <a16:creationId xmlns:a16="http://schemas.microsoft.com/office/drawing/2014/main" id="{3111CBED-2992-0F10-201D-60B8FD8D1E21}"/>
              </a:ext>
            </a:extLst>
          </p:cNvPr>
          <p:cNvSpPr/>
          <p:nvPr/>
        </p:nvSpPr>
        <p:spPr>
          <a:xfrm>
            <a:off x="5831411" y="3139114"/>
            <a:ext cx="2686050" cy="6578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Al2O3</a:t>
            </a:r>
          </a:p>
        </p:txBody>
      </p:sp>
      <p:sp>
        <p:nvSpPr>
          <p:cNvPr id="14" name="Rechteck 3">
            <a:extLst>
              <a:ext uri="{FF2B5EF4-FFF2-40B4-BE49-F238E27FC236}">
                <a16:creationId xmlns:a16="http://schemas.microsoft.com/office/drawing/2014/main" id="{8E228BCB-B1EE-5A8C-9725-03F38941091F}"/>
              </a:ext>
            </a:extLst>
          </p:cNvPr>
          <p:cNvSpPr/>
          <p:nvPr/>
        </p:nvSpPr>
        <p:spPr>
          <a:xfrm>
            <a:off x="5585791" y="4295958"/>
            <a:ext cx="5791199" cy="495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Si/SiO</a:t>
            </a:r>
            <a:r>
              <a:rPr lang="de-DE" baseline="-25000" dirty="0">
                <a:solidFill>
                  <a:schemeClr val="tx1"/>
                </a:solidFill>
              </a:rPr>
              <a:t>2</a:t>
            </a:r>
            <a:r>
              <a:rPr lang="de-DE" dirty="0">
                <a:solidFill>
                  <a:schemeClr val="tx1"/>
                </a:solidFill>
              </a:rPr>
              <a:t> substrate</a:t>
            </a: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065B798C-9C4E-4CBB-208B-062598FFB9C4}"/>
              </a:ext>
            </a:extLst>
          </p:cNvPr>
          <p:cNvSpPr/>
          <p:nvPr/>
        </p:nvSpPr>
        <p:spPr>
          <a:xfrm>
            <a:off x="5827938" y="2500571"/>
            <a:ext cx="2686049" cy="638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IGZO</a:t>
            </a:r>
          </a:p>
        </p:txBody>
      </p:sp>
      <p:sp>
        <p:nvSpPr>
          <p:cNvPr id="17" name="Rechteck 20">
            <a:extLst>
              <a:ext uri="{FF2B5EF4-FFF2-40B4-BE49-F238E27FC236}">
                <a16:creationId xmlns:a16="http://schemas.microsoft.com/office/drawing/2014/main" id="{33F61DC2-A8FA-A6B9-CDA5-A4C060E5B8E1}"/>
              </a:ext>
            </a:extLst>
          </p:cNvPr>
          <p:cNvSpPr/>
          <p:nvPr/>
        </p:nvSpPr>
        <p:spPr>
          <a:xfrm>
            <a:off x="5585792" y="4232458"/>
            <a:ext cx="5791198" cy="63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A2AEA1B-C993-F281-D953-921EE6573453}"/>
              </a:ext>
            </a:extLst>
          </p:cNvPr>
          <p:cNvSpPr/>
          <p:nvPr/>
        </p:nvSpPr>
        <p:spPr>
          <a:xfrm>
            <a:off x="6467080" y="3674497"/>
            <a:ext cx="1414712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23" name="Rechteck 8">
            <a:extLst>
              <a:ext uri="{FF2B5EF4-FFF2-40B4-BE49-F238E27FC236}">
                <a16:creationId xmlns:a16="http://schemas.microsoft.com/office/drawing/2014/main" id="{A2BE5C22-01D8-7084-19F6-69CC68EF2111}"/>
              </a:ext>
            </a:extLst>
          </p:cNvPr>
          <p:cNvSpPr/>
          <p:nvPr/>
        </p:nvSpPr>
        <p:spPr>
          <a:xfrm>
            <a:off x="7881792" y="3702853"/>
            <a:ext cx="2686050" cy="5353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2" name="Rechteck 15">
            <a:extLst>
              <a:ext uri="{FF2B5EF4-FFF2-40B4-BE49-F238E27FC236}">
                <a16:creationId xmlns:a16="http://schemas.microsoft.com/office/drawing/2014/main" id="{E311CF60-E6DE-366A-E76E-5A4D4E42928C}"/>
              </a:ext>
            </a:extLst>
          </p:cNvPr>
          <p:cNvSpPr/>
          <p:nvPr/>
        </p:nvSpPr>
        <p:spPr>
          <a:xfrm>
            <a:off x="6467080" y="4022035"/>
            <a:ext cx="1414712" cy="2146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sp>
        <p:nvSpPr>
          <p:cNvPr id="27" name="Rechteck 15">
            <a:extLst>
              <a:ext uri="{FF2B5EF4-FFF2-40B4-BE49-F238E27FC236}">
                <a16:creationId xmlns:a16="http://schemas.microsoft.com/office/drawing/2014/main" id="{0F5B3543-AC0C-CCE9-AF7E-FA12CCD6987F}"/>
              </a:ext>
            </a:extLst>
          </p:cNvPr>
          <p:cNvSpPr/>
          <p:nvPr/>
        </p:nvSpPr>
        <p:spPr>
          <a:xfrm>
            <a:off x="5657848" y="1932883"/>
            <a:ext cx="880917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28" name="Rechteck 15">
            <a:extLst>
              <a:ext uri="{FF2B5EF4-FFF2-40B4-BE49-F238E27FC236}">
                <a16:creationId xmlns:a16="http://schemas.microsoft.com/office/drawing/2014/main" id="{FF733A38-61FC-E63D-F6FB-2325306742D0}"/>
              </a:ext>
            </a:extLst>
          </p:cNvPr>
          <p:cNvSpPr/>
          <p:nvPr/>
        </p:nvSpPr>
        <p:spPr>
          <a:xfrm>
            <a:off x="5746749" y="2294451"/>
            <a:ext cx="792017" cy="2045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sp>
        <p:nvSpPr>
          <p:cNvPr id="32" name="Rechteck 15">
            <a:extLst>
              <a:ext uri="{FF2B5EF4-FFF2-40B4-BE49-F238E27FC236}">
                <a16:creationId xmlns:a16="http://schemas.microsoft.com/office/drawing/2014/main" id="{FE88933A-7108-C78B-E13D-A2E7CC946FAD}"/>
              </a:ext>
            </a:extLst>
          </p:cNvPr>
          <p:cNvSpPr/>
          <p:nvPr/>
        </p:nvSpPr>
        <p:spPr>
          <a:xfrm>
            <a:off x="7831467" y="1896192"/>
            <a:ext cx="871539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33" name="Rechteck 15">
            <a:extLst>
              <a:ext uri="{FF2B5EF4-FFF2-40B4-BE49-F238E27FC236}">
                <a16:creationId xmlns:a16="http://schemas.microsoft.com/office/drawing/2014/main" id="{F56B0A6D-CD8F-002B-D380-328B2E309482}"/>
              </a:ext>
            </a:extLst>
          </p:cNvPr>
          <p:cNvSpPr/>
          <p:nvPr/>
        </p:nvSpPr>
        <p:spPr>
          <a:xfrm>
            <a:off x="7815124" y="2292882"/>
            <a:ext cx="798162" cy="206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sp>
        <p:nvSpPr>
          <p:cNvPr id="36" name="Rechteck 15">
            <a:extLst>
              <a:ext uri="{FF2B5EF4-FFF2-40B4-BE49-F238E27FC236}">
                <a16:creationId xmlns:a16="http://schemas.microsoft.com/office/drawing/2014/main" id="{86606DF7-3EF8-D2CD-DFBA-412687C0E8C3}"/>
              </a:ext>
            </a:extLst>
          </p:cNvPr>
          <p:cNvSpPr/>
          <p:nvPr/>
        </p:nvSpPr>
        <p:spPr>
          <a:xfrm>
            <a:off x="8613285" y="3173608"/>
            <a:ext cx="1954557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37" name="Rechteck 15">
            <a:extLst>
              <a:ext uri="{FF2B5EF4-FFF2-40B4-BE49-F238E27FC236}">
                <a16:creationId xmlns:a16="http://schemas.microsoft.com/office/drawing/2014/main" id="{5AC5C6D5-DA34-F67C-2A87-B1006B86C704}"/>
              </a:ext>
            </a:extLst>
          </p:cNvPr>
          <p:cNvSpPr/>
          <p:nvPr/>
        </p:nvSpPr>
        <p:spPr>
          <a:xfrm>
            <a:off x="8520934" y="3523101"/>
            <a:ext cx="2046908" cy="1839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Ti</a:t>
            </a:r>
          </a:p>
        </p:txBody>
      </p:sp>
      <p:sp>
        <p:nvSpPr>
          <p:cNvPr id="38" name="Rechteck 12">
            <a:extLst>
              <a:ext uri="{FF2B5EF4-FFF2-40B4-BE49-F238E27FC236}">
                <a16:creationId xmlns:a16="http://schemas.microsoft.com/office/drawing/2014/main" id="{AECA7B5C-244B-545D-D87E-90367B4EF6A3}"/>
              </a:ext>
            </a:extLst>
          </p:cNvPr>
          <p:cNvSpPr/>
          <p:nvPr/>
        </p:nvSpPr>
        <p:spPr>
          <a:xfrm>
            <a:off x="9339488" y="2534105"/>
            <a:ext cx="1228354" cy="638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IGZO</a:t>
            </a:r>
          </a:p>
        </p:txBody>
      </p:sp>
      <p:sp>
        <p:nvSpPr>
          <p:cNvPr id="39" name="Rechteck 15">
            <a:extLst>
              <a:ext uri="{FF2B5EF4-FFF2-40B4-BE49-F238E27FC236}">
                <a16:creationId xmlns:a16="http://schemas.microsoft.com/office/drawing/2014/main" id="{96E630DE-1635-7A13-F7EB-3D9D574392FB}"/>
              </a:ext>
            </a:extLst>
          </p:cNvPr>
          <p:cNvSpPr/>
          <p:nvPr/>
        </p:nvSpPr>
        <p:spPr>
          <a:xfrm>
            <a:off x="9564811" y="1983480"/>
            <a:ext cx="798162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40" name="Rechteck 15">
            <a:extLst>
              <a:ext uri="{FF2B5EF4-FFF2-40B4-BE49-F238E27FC236}">
                <a16:creationId xmlns:a16="http://schemas.microsoft.com/office/drawing/2014/main" id="{698DF492-96D8-FED9-FF74-B15284894FCA}"/>
              </a:ext>
            </a:extLst>
          </p:cNvPr>
          <p:cNvSpPr/>
          <p:nvPr/>
        </p:nvSpPr>
        <p:spPr>
          <a:xfrm>
            <a:off x="9564810" y="2329572"/>
            <a:ext cx="798162" cy="206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cxnSp>
        <p:nvCxnSpPr>
          <p:cNvPr id="41" name="Gerade Verbindung mit Pfeil 44">
            <a:extLst>
              <a:ext uri="{FF2B5EF4-FFF2-40B4-BE49-F238E27FC236}">
                <a16:creationId xmlns:a16="http://schemas.microsoft.com/office/drawing/2014/main" id="{FA6098E7-5817-8D16-ED07-F51513E696B1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6538766" y="2396727"/>
            <a:ext cx="1273952" cy="530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eck 45">
            <a:extLst>
              <a:ext uri="{FF2B5EF4-FFF2-40B4-BE49-F238E27FC236}">
                <a16:creationId xmlns:a16="http://schemas.microsoft.com/office/drawing/2014/main" id="{3E03F6C4-167A-CF28-6A17-46C22C65EB67}"/>
              </a:ext>
            </a:extLst>
          </p:cNvPr>
          <p:cNvSpPr/>
          <p:nvPr/>
        </p:nvSpPr>
        <p:spPr>
          <a:xfrm>
            <a:off x="6515082" y="2052951"/>
            <a:ext cx="590322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</a:t>
            </a:r>
            <a:r>
              <a:rPr lang="de-DE" baseline="-25000" dirty="0">
                <a:solidFill>
                  <a:schemeClr val="tx1"/>
                </a:solidFill>
              </a:rPr>
              <a:t>ch</a:t>
            </a:r>
          </a:p>
        </p:txBody>
      </p:sp>
    </p:spTree>
    <p:extLst>
      <p:ext uri="{BB962C8B-B14F-4D97-AF65-F5344CB8AC3E}">
        <p14:creationId xmlns:p14="http://schemas.microsoft.com/office/powerpoint/2010/main" val="151572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  <p:bldP spid="30" grpId="0" animBg="1"/>
      <p:bldP spid="29" grpId="0" animBg="1"/>
      <p:bldP spid="24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/>
      <p:bldP spid="13" grpId="0" animBg="1"/>
      <p:bldP spid="15" grpId="0" animBg="1"/>
      <p:bldP spid="16" grpId="0" animBg="1"/>
      <p:bldP spid="23" grpId="0" animBg="1"/>
      <p:bldP spid="22" grpId="0" animBg="1"/>
      <p:bldP spid="27" grpId="0" animBg="1"/>
      <p:bldP spid="28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8">
            <a:extLst>
              <a:ext uri="{FF2B5EF4-FFF2-40B4-BE49-F238E27FC236}">
                <a16:creationId xmlns:a16="http://schemas.microsoft.com/office/drawing/2014/main" id="{607B019C-BA1F-8D7F-350C-F0EA35D1CEEB}"/>
              </a:ext>
            </a:extLst>
          </p:cNvPr>
          <p:cNvSpPr/>
          <p:nvPr/>
        </p:nvSpPr>
        <p:spPr>
          <a:xfrm>
            <a:off x="3401442" y="4109253"/>
            <a:ext cx="2712185" cy="5353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Rechteck 15">
            <a:extLst>
              <a:ext uri="{FF2B5EF4-FFF2-40B4-BE49-F238E27FC236}">
                <a16:creationId xmlns:a16="http://schemas.microsoft.com/office/drawing/2014/main" id="{A02AB37B-E8E0-4A54-5851-51419DBE3EE6}"/>
              </a:ext>
            </a:extLst>
          </p:cNvPr>
          <p:cNvSpPr/>
          <p:nvPr/>
        </p:nvSpPr>
        <p:spPr>
          <a:xfrm>
            <a:off x="3920491" y="2723723"/>
            <a:ext cx="303913" cy="13097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 15">
            <a:extLst>
              <a:ext uri="{FF2B5EF4-FFF2-40B4-BE49-F238E27FC236}">
                <a16:creationId xmlns:a16="http://schemas.microsoft.com/office/drawing/2014/main" id="{7C3E13F7-C21E-82FA-5478-0074828269B5}"/>
              </a:ext>
            </a:extLst>
          </p:cNvPr>
          <p:cNvSpPr/>
          <p:nvPr/>
        </p:nvSpPr>
        <p:spPr>
          <a:xfrm>
            <a:off x="4131436" y="3759128"/>
            <a:ext cx="1982191" cy="274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6" name="Rechteck 15">
            <a:extLst>
              <a:ext uri="{FF2B5EF4-FFF2-40B4-BE49-F238E27FC236}">
                <a16:creationId xmlns:a16="http://schemas.microsoft.com/office/drawing/2014/main" id="{AE798D2A-8C60-F717-FCCF-3E1AC4C8B1FD}"/>
              </a:ext>
            </a:extLst>
          </p:cNvPr>
          <p:cNvSpPr/>
          <p:nvPr/>
        </p:nvSpPr>
        <p:spPr>
          <a:xfrm>
            <a:off x="1216518" y="2699281"/>
            <a:ext cx="263004" cy="14442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A174642-3376-0F4F-2020-B4FA2899EFB8}"/>
              </a:ext>
            </a:extLst>
          </p:cNvPr>
          <p:cNvSpPr/>
          <p:nvPr/>
        </p:nvSpPr>
        <p:spPr>
          <a:xfrm>
            <a:off x="1216519" y="2545965"/>
            <a:ext cx="861380" cy="274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21" name="Rechteck 15">
            <a:extLst>
              <a:ext uri="{FF2B5EF4-FFF2-40B4-BE49-F238E27FC236}">
                <a16:creationId xmlns:a16="http://schemas.microsoft.com/office/drawing/2014/main" id="{C8008646-E8E8-FE96-B3ED-F2D987FCABB4}"/>
              </a:ext>
            </a:extLst>
          </p:cNvPr>
          <p:cNvSpPr/>
          <p:nvPr/>
        </p:nvSpPr>
        <p:spPr>
          <a:xfrm>
            <a:off x="3982012" y="4024593"/>
            <a:ext cx="2131615" cy="91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/>
              <a:t>       </a:t>
            </a:r>
            <a:r>
              <a:rPr lang="de-DE" sz="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C1B15-E050-A7F0-EE33-7F9D9F3A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Monolithic</a:t>
            </a:r>
            <a:r>
              <a:rPr lang="de-DE" dirty="0"/>
              <a:t> IGZO-</a:t>
            </a:r>
            <a:r>
              <a:rPr lang="de-DE" dirty="0" err="1"/>
              <a:t>Based</a:t>
            </a:r>
            <a:r>
              <a:rPr lang="de-DE" dirty="0"/>
              <a:t> 1T1R Device </a:t>
            </a:r>
            <a:r>
              <a:rPr lang="de-DE" dirty="0" err="1"/>
              <a:t>Structure</a:t>
            </a:r>
            <a:endParaRPr lang="en-US" dirty="0"/>
          </a:p>
        </p:txBody>
      </p:sp>
      <p:sp>
        <p:nvSpPr>
          <p:cNvPr id="5" name="Rechteck 15">
            <a:extLst>
              <a:ext uri="{FF2B5EF4-FFF2-40B4-BE49-F238E27FC236}">
                <a16:creationId xmlns:a16="http://schemas.microsoft.com/office/drawing/2014/main" id="{DB1AEE80-1599-9A23-25B8-D7699BBD1AFA}"/>
              </a:ext>
            </a:extLst>
          </p:cNvPr>
          <p:cNvSpPr/>
          <p:nvPr/>
        </p:nvSpPr>
        <p:spPr>
          <a:xfrm>
            <a:off x="3385543" y="2889401"/>
            <a:ext cx="723691" cy="12113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sp>
        <p:nvSpPr>
          <p:cNvPr id="7" name="Rechteck 15">
            <a:extLst>
              <a:ext uri="{FF2B5EF4-FFF2-40B4-BE49-F238E27FC236}">
                <a16:creationId xmlns:a16="http://schemas.microsoft.com/office/drawing/2014/main" id="{F4E87E4E-286C-58B0-319C-E6DAEAC498FD}"/>
              </a:ext>
            </a:extLst>
          </p:cNvPr>
          <p:cNvSpPr/>
          <p:nvPr/>
        </p:nvSpPr>
        <p:spPr>
          <a:xfrm>
            <a:off x="1349637" y="2820285"/>
            <a:ext cx="722675" cy="12804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</a:t>
            </a:r>
          </a:p>
        </p:txBody>
      </p:sp>
      <p:sp>
        <p:nvSpPr>
          <p:cNvPr id="8" name="Rechteck 8">
            <a:extLst>
              <a:ext uri="{FF2B5EF4-FFF2-40B4-BE49-F238E27FC236}">
                <a16:creationId xmlns:a16="http://schemas.microsoft.com/office/drawing/2014/main" id="{5B3672BE-E72B-6513-ED3C-C19329D08F6F}"/>
              </a:ext>
            </a:extLst>
          </p:cNvPr>
          <p:cNvSpPr/>
          <p:nvPr/>
        </p:nvSpPr>
        <p:spPr>
          <a:xfrm>
            <a:off x="1213089" y="4117636"/>
            <a:ext cx="847847" cy="5270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D50F9D7-489F-9DF6-B239-31801D67166A}"/>
              </a:ext>
            </a:extLst>
          </p:cNvPr>
          <p:cNvSpPr/>
          <p:nvPr/>
        </p:nvSpPr>
        <p:spPr>
          <a:xfrm>
            <a:off x="1386411" y="3545514"/>
            <a:ext cx="2686050" cy="6578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Al₂O₃</a:t>
            </a:r>
          </a:p>
        </p:txBody>
      </p:sp>
      <p:sp>
        <p:nvSpPr>
          <p:cNvPr id="10" name="Rechteck 3">
            <a:extLst>
              <a:ext uri="{FF2B5EF4-FFF2-40B4-BE49-F238E27FC236}">
                <a16:creationId xmlns:a16="http://schemas.microsoft.com/office/drawing/2014/main" id="{599181C8-71ED-B9EF-070C-922852256721}"/>
              </a:ext>
            </a:extLst>
          </p:cNvPr>
          <p:cNvSpPr/>
          <p:nvPr/>
        </p:nvSpPr>
        <p:spPr>
          <a:xfrm>
            <a:off x="1213090" y="4633407"/>
            <a:ext cx="4900537" cy="5593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Si/SiO</a:t>
            </a:r>
            <a:r>
              <a:rPr lang="de-DE" baseline="-25000" dirty="0">
                <a:solidFill>
                  <a:schemeClr val="tx1"/>
                </a:solidFill>
              </a:rPr>
              <a:t>2</a:t>
            </a:r>
            <a:r>
              <a:rPr lang="de-DE" dirty="0">
                <a:solidFill>
                  <a:schemeClr val="tx1"/>
                </a:solidFill>
              </a:rPr>
              <a:t> substrate</a:t>
            </a:r>
          </a:p>
        </p:txBody>
      </p:sp>
      <p:sp>
        <p:nvSpPr>
          <p:cNvPr id="11" name="Rechteck 12">
            <a:extLst>
              <a:ext uri="{FF2B5EF4-FFF2-40B4-BE49-F238E27FC236}">
                <a16:creationId xmlns:a16="http://schemas.microsoft.com/office/drawing/2014/main" id="{9576187D-52EB-B048-AA61-2B99D7994082}"/>
              </a:ext>
            </a:extLst>
          </p:cNvPr>
          <p:cNvSpPr/>
          <p:nvPr/>
        </p:nvSpPr>
        <p:spPr>
          <a:xfrm>
            <a:off x="1382938" y="2906971"/>
            <a:ext cx="2686049" cy="638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IGZO</a:t>
            </a:r>
          </a:p>
        </p:txBody>
      </p:sp>
      <p:sp>
        <p:nvSpPr>
          <p:cNvPr id="13" name="Rechteck 15">
            <a:extLst>
              <a:ext uri="{FF2B5EF4-FFF2-40B4-BE49-F238E27FC236}">
                <a16:creationId xmlns:a16="http://schemas.microsoft.com/office/drawing/2014/main" id="{95F9442A-71A6-DB9C-6B89-217907B2696D}"/>
              </a:ext>
            </a:extLst>
          </p:cNvPr>
          <p:cNvSpPr/>
          <p:nvPr/>
        </p:nvSpPr>
        <p:spPr>
          <a:xfrm>
            <a:off x="2020165" y="4191330"/>
            <a:ext cx="1417320" cy="36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15" name="Rechteck 15">
            <a:extLst>
              <a:ext uri="{FF2B5EF4-FFF2-40B4-BE49-F238E27FC236}">
                <a16:creationId xmlns:a16="http://schemas.microsoft.com/office/drawing/2014/main" id="{68395341-339B-3046-C5C3-9E281BEF5B2D}"/>
              </a:ext>
            </a:extLst>
          </p:cNvPr>
          <p:cNvSpPr/>
          <p:nvPr/>
        </p:nvSpPr>
        <p:spPr>
          <a:xfrm>
            <a:off x="2020165" y="4547782"/>
            <a:ext cx="1417320" cy="91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</a:t>
            </a:r>
          </a:p>
        </p:txBody>
      </p:sp>
      <p:sp>
        <p:nvSpPr>
          <p:cNvPr id="18" name="Rechteck 15">
            <a:extLst>
              <a:ext uri="{FF2B5EF4-FFF2-40B4-BE49-F238E27FC236}">
                <a16:creationId xmlns:a16="http://schemas.microsoft.com/office/drawing/2014/main" id="{3B32623B-D80A-A4A4-CCD3-3311DD9A778E}"/>
              </a:ext>
            </a:extLst>
          </p:cNvPr>
          <p:cNvSpPr/>
          <p:nvPr/>
        </p:nvSpPr>
        <p:spPr>
          <a:xfrm>
            <a:off x="3324499" y="2548029"/>
            <a:ext cx="899905" cy="274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17" name="Rechteck 15">
            <a:extLst>
              <a:ext uri="{FF2B5EF4-FFF2-40B4-BE49-F238E27FC236}">
                <a16:creationId xmlns:a16="http://schemas.microsoft.com/office/drawing/2014/main" id="{154D7AFB-6235-486A-FDFC-A755F50610E8}"/>
              </a:ext>
            </a:extLst>
          </p:cNvPr>
          <p:cNvSpPr/>
          <p:nvPr/>
        </p:nvSpPr>
        <p:spPr>
          <a:xfrm>
            <a:off x="1349637" y="2813076"/>
            <a:ext cx="729199" cy="91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Ti</a:t>
            </a:r>
          </a:p>
        </p:txBody>
      </p:sp>
      <p:sp>
        <p:nvSpPr>
          <p:cNvPr id="19" name="Rechteck 15">
            <a:extLst>
              <a:ext uri="{FF2B5EF4-FFF2-40B4-BE49-F238E27FC236}">
                <a16:creationId xmlns:a16="http://schemas.microsoft.com/office/drawing/2014/main" id="{8A0CA3C2-0656-2BD3-EE07-EFCE8317D6C3}"/>
              </a:ext>
            </a:extLst>
          </p:cNvPr>
          <p:cNvSpPr/>
          <p:nvPr/>
        </p:nvSpPr>
        <p:spPr>
          <a:xfrm>
            <a:off x="3324499" y="2820285"/>
            <a:ext cx="784736" cy="89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Ti</a:t>
            </a:r>
          </a:p>
        </p:txBody>
      </p:sp>
      <p:sp>
        <p:nvSpPr>
          <p:cNvPr id="22" name="Rechteck 12">
            <a:extLst>
              <a:ext uri="{FF2B5EF4-FFF2-40B4-BE49-F238E27FC236}">
                <a16:creationId xmlns:a16="http://schemas.microsoft.com/office/drawing/2014/main" id="{4C2C2DE5-3A1C-0892-5E00-7485B0C501C5}"/>
              </a:ext>
            </a:extLst>
          </p:cNvPr>
          <p:cNvSpPr/>
          <p:nvPr/>
        </p:nvSpPr>
        <p:spPr>
          <a:xfrm>
            <a:off x="4644853" y="3120408"/>
            <a:ext cx="1228354" cy="638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IGZO</a:t>
            </a:r>
          </a:p>
        </p:txBody>
      </p:sp>
      <p:cxnSp>
        <p:nvCxnSpPr>
          <p:cNvPr id="25" name="Gerade Verbindung mit Pfeil 44">
            <a:extLst>
              <a:ext uri="{FF2B5EF4-FFF2-40B4-BE49-F238E27FC236}">
                <a16:creationId xmlns:a16="http://schemas.microsoft.com/office/drawing/2014/main" id="{0DB14A7D-973F-B84C-C1DA-5DB620C381F6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2078836" y="2858796"/>
            <a:ext cx="1245663" cy="60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45">
            <a:extLst>
              <a:ext uri="{FF2B5EF4-FFF2-40B4-BE49-F238E27FC236}">
                <a16:creationId xmlns:a16="http://schemas.microsoft.com/office/drawing/2014/main" id="{E70B031F-B54F-3930-0840-2EF0EF947C9F}"/>
              </a:ext>
            </a:extLst>
          </p:cNvPr>
          <p:cNvSpPr/>
          <p:nvPr/>
        </p:nvSpPr>
        <p:spPr>
          <a:xfrm>
            <a:off x="2440126" y="2466502"/>
            <a:ext cx="590322" cy="347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</a:t>
            </a:r>
            <a:r>
              <a:rPr lang="de-DE" baseline="-25000" dirty="0">
                <a:solidFill>
                  <a:schemeClr val="tx1"/>
                </a:solidFill>
              </a:rPr>
              <a:t>ch</a:t>
            </a:r>
          </a:p>
        </p:txBody>
      </p:sp>
      <p:sp>
        <p:nvSpPr>
          <p:cNvPr id="73" name="Rechteck 15">
            <a:extLst>
              <a:ext uri="{FF2B5EF4-FFF2-40B4-BE49-F238E27FC236}">
                <a16:creationId xmlns:a16="http://schemas.microsoft.com/office/drawing/2014/main" id="{DE829E34-4CC5-C046-81C4-D6D46E0FB978}"/>
              </a:ext>
            </a:extLst>
          </p:cNvPr>
          <p:cNvSpPr/>
          <p:nvPr/>
        </p:nvSpPr>
        <p:spPr>
          <a:xfrm>
            <a:off x="4843736" y="2763273"/>
            <a:ext cx="813162" cy="274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Pt</a:t>
            </a:r>
          </a:p>
        </p:txBody>
      </p:sp>
      <p:sp>
        <p:nvSpPr>
          <p:cNvPr id="74" name="Rechteck 15">
            <a:extLst>
              <a:ext uri="{FF2B5EF4-FFF2-40B4-BE49-F238E27FC236}">
                <a16:creationId xmlns:a16="http://schemas.microsoft.com/office/drawing/2014/main" id="{FA6A777F-A677-0540-1610-1D425257F67B}"/>
              </a:ext>
            </a:extLst>
          </p:cNvPr>
          <p:cNvSpPr/>
          <p:nvPr/>
        </p:nvSpPr>
        <p:spPr>
          <a:xfrm>
            <a:off x="4843736" y="3033021"/>
            <a:ext cx="813162" cy="91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</a:t>
            </a:r>
          </a:p>
        </p:txBody>
      </p:sp>
      <p:sp>
        <p:nvSpPr>
          <p:cNvPr id="87" name="Rechteck 15">
            <a:extLst>
              <a:ext uri="{FF2B5EF4-FFF2-40B4-BE49-F238E27FC236}">
                <a16:creationId xmlns:a16="http://schemas.microsoft.com/office/drawing/2014/main" id="{384EDF1D-5D46-B31D-1F1E-FC41D23EBD40}"/>
              </a:ext>
            </a:extLst>
          </p:cNvPr>
          <p:cNvSpPr/>
          <p:nvPr/>
        </p:nvSpPr>
        <p:spPr>
          <a:xfrm>
            <a:off x="1209662" y="4032112"/>
            <a:ext cx="176283" cy="91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/>
              <a:t>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3598200-49C9-5C34-214C-4BE9E52F13F4}"/>
              </a:ext>
            </a:extLst>
          </p:cNvPr>
          <p:cNvSpPr txBox="1"/>
          <p:nvPr/>
        </p:nvSpPr>
        <p:spPr>
          <a:xfrm>
            <a:off x="3463762" y="5156596"/>
            <a:ext cx="456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(a)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F0A92F-2FC9-B2CD-7E88-71D6129694AC}"/>
              </a:ext>
            </a:extLst>
          </p:cNvPr>
          <p:cNvGrpSpPr/>
          <p:nvPr/>
        </p:nvGrpSpPr>
        <p:grpSpPr>
          <a:xfrm>
            <a:off x="6422982" y="3033021"/>
            <a:ext cx="3748854" cy="2604812"/>
            <a:chOff x="6422981" y="1997684"/>
            <a:chExt cx="4747707" cy="3685048"/>
          </a:xfrm>
        </p:grpSpPr>
        <p:sp>
          <p:nvSpPr>
            <p:cNvPr id="27" name="Rechteck 4">
              <a:extLst>
                <a:ext uri="{FF2B5EF4-FFF2-40B4-BE49-F238E27FC236}">
                  <a16:creationId xmlns:a16="http://schemas.microsoft.com/office/drawing/2014/main" id="{90A3641C-B18D-D51F-98E0-DB700285F638}"/>
                </a:ext>
              </a:extLst>
            </p:cNvPr>
            <p:cNvSpPr/>
            <p:nvPr/>
          </p:nvSpPr>
          <p:spPr>
            <a:xfrm>
              <a:off x="6422981" y="1997684"/>
              <a:ext cx="4747707" cy="319504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8" name="Gruppieren 16">
              <a:extLst>
                <a:ext uri="{FF2B5EF4-FFF2-40B4-BE49-F238E27FC236}">
                  <a16:creationId xmlns:a16="http://schemas.microsoft.com/office/drawing/2014/main" id="{50996B2D-3ACD-1A26-9084-B66FDCBFB71F}"/>
                </a:ext>
              </a:extLst>
            </p:cNvPr>
            <p:cNvGrpSpPr/>
            <p:nvPr/>
          </p:nvGrpSpPr>
          <p:grpSpPr>
            <a:xfrm rot="5400000">
              <a:off x="9644956" y="2163208"/>
              <a:ext cx="527050" cy="2294075"/>
              <a:chOff x="5538925" y="3230425"/>
              <a:chExt cx="527050" cy="2294075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49" name="Rechteck: obere Ecken abgeschnitten 17">
                <a:extLst>
                  <a:ext uri="{FF2B5EF4-FFF2-40B4-BE49-F238E27FC236}">
                    <a16:creationId xmlns:a16="http://schemas.microsoft.com/office/drawing/2014/main" id="{AFA5FCE8-B6FA-77A0-FA96-A4C368EE2B21}"/>
                  </a:ext>
                </a:extLst>
              </p:cNvPr>
              <p:cNvSpPr/>
              <p:nvPr/>
            </p:nvSpPr>
            <p:spPr>
              <a:xfrm>
                <a:off x="5538925" y="5041900"/>
                <a:ext cx="527050" cy="482600"/>
              </a:xfrm>
              <a:prstGeom prst="snip2SameRect">
                <a:avLst>
                  <a:gd name="adj1" fmla="val 35526"/>
                  <a:gd name="adj2" fmla="val 0"/>
                </a:avLst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Rechteck 18">
                <a:extLst>
                  <a:ext uri="{FF2B5EF4-FFF2-40B4-BE49-F238E27FC236}">
                    <a16:creationId xmlns:a16="http://schemas.microsoft.com/office/drawing/2014/main" id="{45528A9E-F94A-75E1-3478-B2D7EC6BE1C2}"/>
                  </a:ext>
                </a:extLst>
              </p:cNvPr>
              <p:cNvSpPr/>
              <p:nvPr/>
            </p:nvSpPr>
            <p:spPr>
              <a:xfrm>
                <a:off x="5757275" y="3713025"/>
                <a:ext cx="90350" cy="1328875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" name="Rechteck: obere Ecken abgeschnitten 19">
                <a:extLst>
                  <a:ext uri="{FF2B5EF4-FFF2-40B4-BE49-F238E27FC236}">
                    <a16:creationId xmlns:a16="http://schemas.microsoft.com/office/drawing/2014/main" id="{5623A9C9-40D0-EE7C-D57A-F876CE55DC47}"/>
                  </a:ext>
                </a:extLst>
              </p:cNvPr>
              <p:cNvSpPr/>
              <p:nvPr/>
            </p:nvSpPr>
            <p:spPr>
              <a:xfrm rot="10800000">
                <a:off x="5538925" y="3230425"/>
                <a:ext cx="527050" cy="482600"/>
              </a:xfrm>
              <a:prstGeom prst="snip2SameRect">
                <a:avLst>
                  <a:gd name="adj1" fmla="val 35526"/>
                  <a:gd name="adj2" fmla="val 0"/>
                </a:avLst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8" name="Rechteck 21">
              <a:extLst>
                <a:ext uri="{FF2B5EF4-FFF2-40B4-BE49-F238E27FC236}">
                  <a16:creationId xmlns:a16="http://schemas.microsoft.com/office/drawing/2014/main" id="{F9549197-002B-FD89-9AA9-CD9B6169FF84}"/>
                </a:ext>
              </a:extLst>
            </p:cNvPr>
            <p:cNvSpPr/>
            <p:nvPr/>
          </p:nvSpPr>
          <p:spPr>
            <a:xfrm>
              <a:off x="6661578" y="3046516"/>
              <a:ext cx="391128" cy="189738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2">
              <a:extLst>
                <a:ext uri="{FF2B5EF4-FFF2-40B4-BE49-F238E27FC236}">
                  <a16:creationId xmlns:a16="http://schemas.microsoft.com/office/drawing/2014/main" id="{E978E614-4711-482E-2FFD-243FF2495C5C}"/>
                </a:ext>
              </a:extLst>
            </p:cNvPr>
            <p:cNvSpPr/>
            <p:nvPr/>
          </p:nvSpPr>
          <p:spPr>
            <a:xfrm>
              <a:off x="8673258" y="3046516"/>
              <a:ext cx="391128" cy="189738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Rechteck 24">
              <a:extLst>
                <a:ext uri="{FF2B5EF4-FFF2-40B4-BE49-F238E27FC236}">
                  <a16:creationId xmlns:a16="http://schemas.microsoft.com/office/drawing/2014/main" id="{C549A44C-8587-8118-3A68-666B57944BC4}"/>
                </a:ext>
              </a:extLst>
            </p:cNvPr>
            <p:cNvSpPr/>
            <p:nvPr/>
          </p:nvSpPr>
          <p:spPr>
            <a:xfrm>
              <a:off x="6661578" y="3046516"/>
              <a:ext cx="778674" cy="112649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Rechteck 26">
              <a:extLst>
                <a:ext uri="{FF2B5EF4-FFF2-40B4-BE49-F238E27FC236}">
                  <a16:creationId xmlns:a16="http://schemas.microsoft.com/office/drawing/2014/main" id="{310C03AA-C3EF-4A95-7D76-49A5B964E5C0}"/>
                </a:ext>
              </a:extLst>
            </p:cNvPr>
            <p:cNvSpPr/>
            <p:nvPr/>
          </p:nvSpPr>
          <p:spPr>
            <a:xfrm>
              <a:off x="8285712" y="3046516"/>
              <a:ext cx="778674" cy="112649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Rechteck 27">
              <a:extLst>
                <a:ext uri="{FF2B5EF4-FFF2-40B4-BE49-F238E27FC236}">
                  <a16:creationId xmlns:a16="http://schemas.microsoft.com/office/drawing/2014/main" id="{DE3C3516-C8B7-92FD-665D-6AF79206113A}"/>
                </a:ext>
              </a:extLst>
            </p:cNvPr>
            <p:cNvSpPr/>
            <p:nvPr/>
          </p:nvSpPr>
          <p:spPr>
            <a:xfrm>
              <a:off x="7181606" y="3046516"/>
              <a:ext cx="1363546" cy="1126490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4" name="Rechteck 29">
              <a:extLst>
                <a:ext uri="{FF2B5EF4-FFF2-40B4-BE49-F238E27FC236}">
                  <a16:creationId xmlns:a16="http://schemas.microsoft.com/office/drawing/2014/main" id="{425A69D2-A153-1126-5B5B-B8A4E011079F}"/>
                </a:ext>
              </a:extLst>
            </p:cNvPr>
            <p:cNvSpPr/>
            <p:nvPr/>
          </p:nvSpPr>
          <p:spPr>
            <a:xfrm>
              <a:off x="7364052" y="2666826"/>
              <a:ext cx="997860" cy="2277070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3" name="Rechteck 28">
              <a:extLst>
                <a:ext uri="{FF2B5EF4-FFF2-40B4-BE49-F238E27FC236}">
                  <a16:creationId xmlns:a16="http://schemas.microsoft.com/office/drawing/2014/main" id="{C0461D4B-D6A7-FDC9-045C-D023400C23A1}"/>
                </a:ext>
              </a:extLst>
            </p:cNvPr>
            <p:cNvSpPr/>
            <p:nvPr/>
          </p:nvSpPr>
          <p:spPr>
            <a:xfrm>
              <a:off x="6543845" y="2747899"/>
              <a:ext cx="3913904" cy="1550713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5" name="Rechteck 30">
              <a:extLst>
                <a:ext uri="{FF2B5EF4-FFF2-40B4-BE49-F238E27FC236}">
                  <a16:creationId xmlns:a16="http://schemas.microsoft.com/office/drawing/2014/main" id="{1D46D97A-6741-7C1F-FDC7-0BC4E0B0E194}"/>
                </a:ext>
              </a:extLst>
            </p:cNvPr>
            <p:cNvSpPr/>
            <p:nvPr/>
          </p:nvSpPr>
          <p:spPr>
            <a:xfrm>
              <a:off x="6661578" y="4596766"/>
              <a:ext cx="391128" cy="34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S</a:t>
              </a:r>
            </a:p>
          </p:txBody>
        </p:sp>
        <p:sp>
          <p:nvSpPr>
            <p:cNvPr id="36" name="Rechteck 31">
              <a:extLst>
                <a:ext uri="{FF2B5EF4-FFF2-40B4-BE49-F238E27FC236}">
                  <a16:creationId xmlns:a16="http://schemas.microsoft.com/office/drawing/2014/main" id="{4CEDF81A-82FF-7AA6-78CD-A2EF9CBD317C}"/>
                </a:ext>
              </a:extLst>
            </p:cNvPr>
            <p:cNvSpPr/>
            <p:nvPr/>
          </p:nvSpPr>
          <p:spPr>
            <a:xfrm>
              <a:off x="8673258" y="4596766"/>
              <a:ext cx="391128" cy="34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D</a:t>
              </a:r>
            </a:p>
          </p:txBody>
        </p:sp>
        <p:sp>
          <p:nvSpPr>
            <p:cNvPr id="37" name="Rechteck 32">
              <a:extLst>
                <a:ext uri="{FF2B5EF4-FFF2-40B4-BE49-F238E27FC236}">
                  <a16:creationId xmlns:a16="http://schemas.microsoft.com/office/drawing/2014/main" id="{F8601D1E-F70F-E45A-DB3A-2E598E9F22FF}"/>
                </a:ext>
              </a:extLst>
            </p:cNvPr>
            <p:cNvSpPr/>
            <p:nvPr/>
          </p:nvSpPr>
          <p:spPr>
            <a:xfrm>
              <a:off x="7667418" y="4596766"/>
              <a:ext cx="391128" cy="34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G</a:t>
              </a:r>
            </a:p>
          </p:txBody>
        </p:sp>
        <p:cxnSp>
          <p:nvCxnSpPr>
            <p:cNvPr id="38" name="Gerade Verbindung mit Pfeil 35">
              <a:extLst>
                <a:ext uri="{FF2B5EF4-FFF2-40B4-BE49-F238E27FC236}">
                  <a16:creationId xmlns:a16="http://schemas.microsoft.com/office/drawing/2014/main" id="{BA46F8A4-7414-6DBB-3BAD-4F3892633004}"/>
                </a:ext>
              </a:extLst>
            </p:cNvPr>
            <p:cNvCxnSpPr>
              <a:cxnSpLocks/>
            </p:cNvCxnSpPr>
            <p:nvPr/>
          </p:nvCxnSpPr>
          <p:spPr>
            <a:xfrm>
              <a:off x="7440252" y="4062426"/>
              <a:ext cx="84546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mit Pfeil 36">
              <a:extLst>
                <a:ext uri="{FF2B5EF4-FFF2-40B4-BE49-F238E27FC236}">
                  <a16:creationId xmlns:a16="http://schemas.microsoft.com/office/drawing/2014/main" id="{C2FBB669-8970-632F-758F-F9C8130673A3}"/>
                </a:ext>
              </a:extLst>
            </p:cNvPr>
            <p:cNvCxnSpPr>
              <a:cxnSpLocks/>
            </p:cNvCxnSpPr>
            <p:nvPr/>
          </p:nvCxnSpPr>
          <p:spPr>
            <a:xfrm>
              <a:off x="7580407" y="3046516"/>
              <a:ext cx="0" cy="112649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eck 42">
              <a:extLst>
                <a:ext uri="{FF2B5EF4-FFF2-40B4-BE49-F238E27FC236}">
                  <a16:creationId xmlns:a16="http://schemas.microsoft.com/office/drawing/2014/main" id="{247E7303-2BAA-4A86-3D0C-AE7EEBBAF23B}"/>
                </a:ext>
              </a:extLst>
            </p:cNvPr>
            <p:cNvSpPr/>
            <p:nvPr/>
          </p:nvSpPr>
          <p:spPr>
            <a:xfrm>
              <a:off x="7512875" y="3218679"/>
              <a:ext cx="590322" cy="34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</a:rPr>
                <a:t>W</a:t>
              </a:r>
              <a:r>
                <a:rPr lang="de-DE" sz="1200" baseline="-25000" dirty="0" err="1">
                  <a:solidFill>
                    <a:schemeClr val="tx1"/>
                  </a:solidFill>
                </a:rPr>
                <a:t>ch</a:t>
              </a:r>
              <a:endParaRPr lang="de-DE" sz="1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hteck 43">
              <a:extLst>
                <a:ext uri="{FF2B5EF4-FFF2-40B4-BE49-F238E27FC236}">
                  <a16:creationId xmlns:a16="http://schemas.microsoft.com/office/drawing/2014/main" id="{49EE88E1-96FB-A0A8-DA57-135677216A5E}"/>
                </a:ext>
              </a:extLst>
            </p:cNvPr>
            <p:cNvSpPr/>
            <p:nvPr/>
          </p:nvSpPr>
          <p:spPr>
            <a:xfrm>
              <a:off x="7632102" y="3731348"/>
              <a:ext cx="590322" cy="34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L</a:t>
              </a:r>
              <a:r>
                <a:rPr lang="de-DE" sz="1200" baseline="-25000" dirty="0">
                  <a:solidFill>
                    <a:schemeClr val="tx1"/>
                  </a:solidFill>
                </a:rPr>
                <a:t>ch</a:t>
              </a:r>
            </a:p>
          </p:txBody>
        </p:sp>
        <p:sp>
          <p:nvSpPr>
            <p:cNvPr id="47" name="Rechteck 11">
              <a:extLst>
                <a:ext uri="{FF2B5EF4-FFF2-40B4-BE49-F238E27FC236}">
                  <a16:creationId xmlns:a16="http://schemas.microsoft.com/office/drawing/2014/main" id="{51391EED-BB23-EB34-4826-64019AEBC149}"/>
                </a:ext>
              </a:extLst>
            </p:cNvPr>
            <p:cNvSpPr/>
            <p:nvPr/>
          </p:nvSpPr>
          <p:spPr>
            <a:xfrm>
              <a:off x="9548481" y="2950245"/>
              <a:ext cx="720000" cy="720000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3" name="Gruppieren 14">
              <a:extLst>
                <a:ext uri="{FF2B5EF4-FFF2-40B4-BE49-F238E27FC236}">
                  <a16:creationId xmlns:a16="http://schemas.microsoft.com/office/drawing/2014/main" id="{A0CED0BF-DB76-6AF1-F6EE-A41C3E6716ED}"/>
                </a:ext>
              </a:extLst>
            </p:cNvPr>
            <p:cNvGrpSpPr/>
            <p:nvPr/>
          </p:nvGrpSpPr>
          <p:grpSpPr>
            <a:xfrm>
              <a:off x="9644956" y="2090057"/>
              <a:ext cx="527050" cy="2853839"/>
              <a:chOff x="5538925" y="3230425"/>
              <a:chExt cx="527050" cy="2294075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44" name="Rechteck: obere Ecken abgeschnitten 7">
                <a:extLst>
                  <a:ext uri="{FF2B5EF4-FFF2-40B4-BE49-F238E27FC236}">
                    <a16:creationId xmlns:a16="http://schemas.microsoft.com/office/drawing/2014/main" id="{016E983A-FF2B-3147-1641-4338F613111A}"/>
                  </a:ext>
                </a:extLst>
              </p:cNvPr>
              <p:cNvSpPr/>
              <p:nvPr/>
            </p:nvSpPr>
            <p:spPr>
              <a:xfrm>
                <a:off x="5538925" y="5041900"/>
                <a:ext cx="527050" cy="482600"/>
              </a:xfrm>
              <a:prstGeom prst="snip2SameRect">
                <a:avLst>
                  <a:gd name="adj1" fmla="val 35526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5" name="Rechteck 9">
                <a:extLst>
                  <a:ext uri="{FF2B5EF4-FFF2-40B4-BE49-F238E27FC236}">
                    <a16:creationId xmlns:a16="http://schemas.microsoft.com/office/drawing/2014/main" id="{CD78D780-9D42-A2B0-B082-21570DF67FEA}"/>
                  </a:ext>
                </a:extLst>
              </p:cNvPr>
              <p:cNvSpPr/>
              <p:nvPr/>
            </p:nvSpPr>
            <p:spPr>
              <a:xfrm>
                <a:off x="5757275" y="3713025"/>
                <a:ext cx="90350" cy="13288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Rechteck: obere Ecken abgeschnitten 13">
                <a:extLst>
                  <a:ext uri="{FF2B5EF4-FFF2-40B4-BE49-F238E27FC236}">
                    <a16:creationId xmlns:a16="http://schemas.microsoft.com/office/drawing/2014/main" id="{063296FA-B208-3033-2013-6EB2FA6D3E43}"/>
                  </a:ext>
                </a:extLst>
              </p:cNvPr>
              <p:cNvSpPr/>
              <p:nvPr/>
            </p:nvSpPr>
            <p:spPr>
              <a:xfrm rot="10800000">
                <a:off x="5538925" y="3230425"/>
                <a:ext cx="527050" cy="482600"/>
              </a:xfrm>
              <a:prstGeom prst="snip2SameRect">
                <a:avLst>
                  <a:gd name="adj1" fmla="val 35526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E18071F-710E-3435-F1DA-4D68BED9F0FC}"/>
                </a:ext>
              </a:extLst>
            </p:cNvPr>
            <p:cNvSpPr txBox="1"/>
            <p:nvPr/>
          </p:nvSpPr>
          <p:spPr>
            <a:xfrm>
              <a:off x="8761444" y="5160235"/>
              <a:ext cx="787037" cy="52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085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animBg="1"/>
      <p:bldP spid="20" grpId="0" animBg="1"/>
      <p:bldP spid="6" grpId="0" animBg="1"/>
      <p:bldP spid="16" grpId="0" animBg="1"/>
      <p:bldP spid="21" grpId="0" animBg="1"/>
      <p:bldP spid="5" grpId="0" animBg="1"/>
      <p:bldP spid="7" grpId="0" animBg="1"/>
      <p:bldP spid="8" grpId="0" animBg="1"/>
      <p:bldP spid="9" grpId="0" animBg="1"/>
      <p:bldP spid="11" grpId="0" animBg="1"/>
      <p:bldP spid="13" grpId="0" animBg="1"/>
      <p:bldP spid="15" grpId="0" animBg="1"/>
      <p:bldP spid="18" grpId="0" animBg="1"/>
      <p:bldP spid="17" grpId="0" animBg="1"/>
      <p:bldP spid="19" grpId="0" animBg="1"/>
      <p:bldP spid="22" grpId="0" animBg="1"/>
      <p:bldP spid="26" grpId="0"/>
      <p:bldP spid="73" grpId="0" animBg="1"/>
      <p:bldP spid="74" grpId="0" animBg="1"/>
      <p:bldP spid="8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1B15-E050-A7F0-EE33-7F9D9F3A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Monolithic</a:t>
            </a:r>
            <a:r>
              <a:rPr lang="de-DE" dirty="0"/>
              <a:t> IGZO-</a:t>
            </a:r>
            <a:r>
              <a:rPr lang="de-DE" dirty="0" err="1"/>
              <a:t>Based</a:t>
            </a:r>
            <a:r>
              <a:rPr lang="de-DE" dirty="0"/>
              <a:t> 1T1R Device </a:t>
            </a:r>
            <a:r>
              <a:rPr lang="de-DE" dirty="0" err="1"/>
              <a:t>Structure</a:t>
            </a:r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01E78CF-5254-01D6-12B3-3B0AB081B27A}"/>
              </a:ext>
            </a:extLst>
          </p:cNvPr>
          <p:cNvGrpSpPr/>
          <p:nvPr/>
        </p:nvGrpSpPr>
        <p:grpSpPr>
          <a:xfrm>
            <a:off x="1023371" y="2851572"/>
            <a:ext cx="7285017" cy="2717109"/>
            <a:chOff x="1023371" y="2851572"/>
            <a:chExt cx="7285017" cy="271710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0C57D30-5A5B-57E3-C0C9-0D782AC3B9D6}"/>
                </a:ext>
              </a:extLst>
            </p:cNvPr>
            <p:cNvGrpSpPr/>
            <p:nvPr/>
          </p:nvGrpSpPr>
          <p:grpSpPr>
            <a:xfrm>
              <a:off x="5490968" y="3483687"/>
              <a:ext cx="2817420" cy="1982602"/>
              <a:chOff x="5762463" y="3458047"/>
              <a:chExt cx="3000419" cy="2156481"/>
            </a:xfrm>
          </p:grpSpPr>
          <p:sp>
            <p:nvSpPr>
              <p:cNvPr id="27" name="Rechteck 4">
                <a:extLst>
                  <a:ext uri="{FF2B5EF4-FFF2-40B4-BE49-F238E27FC236}">
                    <a16:creationId xmlns:a16="http://schemas.microsoft.com/office/drawing/2014/main" id="{90A3641C-B18D-D51F-98E0-DB700285F638}"/>
                  </a:ext>
                </a:extLst>
              </p:cNvPr>
              <p:cNvSpPr/>
              <p:nvPr/>
            </p:nvSpPr>
            <p:spPr>
              <a:xfrm>
                <a:off x="5762463" y="3458047"/>
                <a:ext cx="2898820" cy="180436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/>
              </a:p>
            </p:txBody>
          </p:sp>
          <p:grpSp>
            <p:nvGrpSpPr>
              <p:cNvPr id="48" name="Gruppieren 16">
                <a:extLst>
                  <a:ext uri="{FF2B5EF4-FFF2-40B4-BE49-F238E27FC236}">
                    <a16:creationId xmlns:a16="http://schemas.microsoft.com/office/drawing/2014/main" id="{50996B2D-3ACD-1A26-9084-B66FDCBFB71F}"/>
                  </a:ext>
                </a:extLst>
              </p:cNvPr>
              <p:cNvGrpSpPr/>
              <p:nvPr/>
            </p:nvGrpSpPr>
            <p:grpSpPr>
              <a:xfrm rot="5400000">
                <a:off x="7704947" y="3494976"/>
                <a:ext cx="297646" cy="1408648"/>
                <a:chOff x="5538924" y="3149509"/>
                <a:chExt cx="527051" cy="2374991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49" name="Rechteck: obere Ecken abgeschnitten 17">
                  <a:extLst>
                    <a:ext uri="{FF2B5EF4-FFF2-40B4-BE49-F238E27FC236}">
                      <a16:creationId xmlns:a16="http://schemas.microsoft.com/office/drawing/2014/main" id="{AFA5FCE8-B6FA-77A0-FA96-A4C368EE2B21}"/>
                    </a:ext>
                  </a:extLst>
                </p:cNvPr>
                <p:cNvSpPr/>
                <p:nvPr/>
              </p:nvSpPr>
              <p:spPr>
                <a:xfrm>
                  <a:off x="5538925" y="5041900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5A65A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  <p:sp>
              <p:nvSpPr>
                <p:cNvPr id="50" name="Rechteck 18">
                  <a:extLst>
                    <a:ext uri="{FF2B5EF4-FFF2-40B4-BE49-F238E27FC236}">
                      <a16:creationId xmlns:a16="http://schemas.microsoft.com/office/drawing/2014/main" id="{45528A9E-F94A-75E1-3478-B2D7EC6BE1C2}"/>
                    </a:ext>
                  </a:extLst>
                </p:cNvPr>
                <p:cNvSpPr/>
                <p:nvPr/>
              </p:nvSpPr>
              <p:spPr>
                <a:xfrm>
                  <a:off x="5757275" y="3713025"/>
                  <a:ext cx="90350" cy="1328875"/>
                </a:xfrm>
                <a:prstGeom prst="rect">
                  <a:avLst/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  <p:sp>
              <p:nvSpPr>
                <p:cNvPr id="51" name="Rechteck: obere Ecken abgeschnitten 19">
                  <a:extLst>
                    <a:ext uri="{FF2B5EF4-FFF2-40B4-BE49-F238E27FC236}">
                      <a16:creationId xmlns:a16="http://schemas.microsoft.com/office/drawing/2014/main" id="{5623A9C9-40D0-EE7C-D57A-F876CE55DC47}"/>
                    </a:ext>
                  </a:extLst>
                </p:cNvPr>
                <p:cNvSpPr/>
                <p:nvPr/>
              </p:nvSpPr>
              <p:spPr>
                <a:xfrm rot="10800000">
                  <a:off x="5538924" y="3149509"/>
                  <a:ext cx="527050" cy="563516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28" name="Rechteck 21">
                <a:extLst>
                  <a:ext uri="{FF2B5EF4-FFF2-40B4-BE49-F238E27FC236}">
                    <a16:creationId xmlns:a16="http://schemas.microsoft.com/office/drawing/2014/main" id="{F9549197-002B-FD89-9AA9-CD9B6169FF84}"/>
                  </a:ext>
                </a:extLst>
              </p:cNvPr>
              <p:cNvSpPr/>
              <p:nvPr/>
            </p:nvSpPr>
            <p:spPr>
              <a:xfrm>
                <a:off x="5903979" y="4050362"/>
                <a:ext cx="231985" cy="1071523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/>
              </a:p>
            </p:txBody>
          </p:sp>
          <p:sp>
            <p:nvSpPr>
              <p:cNvPr id="29" name="Rechteck 22">
                <a:extLst>
                  <a:ext uri="{FF2B5EF4-FFF2-40B4-BE49-F238E27FC236}">
                    <a16:creationId xmlns:a16="http://schemas.microsoft.com/office/drawing/2014/main" id="{E978E614-4711-482E-2FFD-243FF2495C5C}"/>
                  </a:ext>
                </a:extLst>
              </p:cNvPr>
              <p:cNvSpPr/>
              <p:nvPr/>
            </p:nvSpPr>
            <p:spPr>
              <a:xfrm>
                <a:off x="7097141" y="4050362"/>
                <a:ext cx="231985" cy="1071523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/>
              </a:p>
            </p:txBody>
          </p:sp>
          <p:sp>
            <p:nvSpPr>
              <p:cNvPr id="30" name="Rechteck 24">
                <a:extLst>
                  <a:ext uri="{FF2B5EF4-FFF2-40B4-BE49-F238E27FC236}">
                    <a16:creationId xmlns:a16="http://schemas.microsoft.com/office/drawing/2014/main" id="{C549A44C-8587-8118-3A68-666B57944BC4}"/>
                  </a:ext>
                </a:extLst>
              </p:cNvPr>
              <p:cNvSpPr/>
              <p:nvPr/>
            </p:nvSpPr>
            <p:spPr>
              <a:xfrm>
                <a:off x="5903979" y="4050362"/>
                <a:ext cx="461845" cy="63617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/>
              </a:p>
            </p:txBody>
          </p:sp>
          <p:sp>
            <p:nvSpPr>
              <p:cNvPr id="31" name="Rechteck 26">
                <a:extLst>
                  <a:ext uri="{FF2B5EF4-FFF2-40B4-BE49-F238E27FC236}">
                    <a16:creationId xmlns:a16="http://schemas.microsoft.com/office/drawing/2014/main" id="{310C03AA-C3EF-4A95-7D76-49A5B964E5C0}"/>
                  </a:ext>
                </a:extLst>
              </p:cNvPr>
              <p:cNvSpPr/>
              <p:nvPr/>
            </p:nvSpPr>
            <p:spPr>
              <a:xfrm>
                <a:off x="6867281" y="4050362"/>
                <a:ext cx="461845" cy="63617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/>
              </a:p>
            </p:txBody>
          </p:sp>
          <p:sp>
            <p:nvSpPr>
              <p:cNvPr id="32" name="Rechteck 27">
                <a:extLst>
                  <a:ext uri="{FF2B5EF4-FFF2-40B4-BE49-F238E27FC236}">
                    <a16:creationId xmlns:a16="http://schemas.microsoft.com/office/drawing/2014/main" id="{DE3C3516-C8B7-92FD-665D-6AF79206113A}"/>
                  </a:ext>
                </a:extLst>
              </p:cNvPr>
              <p:cNvSpPr/>
              <p:nvPr/>
            </p:nvSpPr>
            <p:spPr>
              <a:xfrm>
                <a:off x="6212417" y="4050362"/>
                <a:ext cx="808743" cy="636172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hteck 29">
                <a:extLst>
                  <a:ext uri="{FF2B5EF4-FFF2-40B4-BE49-F238E27FC236}">
                    <a16:creationId xmlns:a16="http://schemas.microsoft.com/office/drawing/2014/main" id="{425A69D2-A153-1126-5B5B-B8A4E011079F}"/>
                  </a:ext>
                </a:extLst>
              </p:cNvPr>
              <p:cNvSpPr/>
              <p:nvPr/>
            </p:nvSpPr>
            <p:spPr>
              <a:xfrm>
                <a:off x="6320629" y="3835936"/>
                <a:ext cx="591848" cy="1285948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 dirty="0"/>
              </a:p>
            </p:txBody>
          </p:sp>
          <p:sp>
            <p:nvSpPr>
              <p:cNvPr id="33" name="Rechteck 28">
                <a:extLst>
                  <a:ext uri="{FF2B5EF4-FFF2-40B4-BE49-F238E27FC236}">
                    <a16:creationId xmlns:a16="http://schemas.microsoft.com/office/drawing/2014/main" id="{C0461D4B-D6A7-FDC9-045C-D023400C23A1}"/>
                  </a:ext>
                </a:extLst>
              </p:cNvPr>
              <p:cNvSpPr/>
              <p:nvPr/>
            </p:nvSpPr>
            <p:spPr>
              <a:xfrm>
                <a:off x="5834150" y="3881721"/>
                <a:ext cx="2321405" cy="804812"/>
              </a:xfrm>
              <a:prstGeom prst="rect">
                <a:avLst/>
              </a:prstGeom>
              <a:solidFill>
                <a:schemeClr val="accent2">
                  <a:lumMod val="75000"/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hteck 30">
                <a:extLst>
                  <a:ext uri="{FF2B5EF4-FFF2-40B4-BE49-F238E27FC236}">
                    <a16:creationId xmlns:a16="http://schemas.microsoft.com/office/drawing/2014/main" id="{1D46D97A-6741-7C1F-FDC7-0BC4E0B0E194}"/>
                  </a:ext>
                </a:extLst>
              </p:cNvPr>
              <p:cNvSpPr/>
              <p:nvPr/>
            </p:nvSpPr>
            <p:spPr>
              <a:xfrm>
                <a:off x="5903979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/>
                  <a:t>S</a:t>
                </a:r>
                <a:endParaRPr lang="de-DE" sz="1200" dirty="0"/>
              </a:p>
            </p:txBody>
          </p:sp>
          <p:sp>
            <p:nvSpPr>
              <p:cNvPr id="36" name="Rechteck 31">
                <a:extLst>
                  <a:ext uri="{FF2B5EF4-FFF2-40B4-BE49-F238E27FC236}">
                    <a16:creationId xmlns:a16="http://schemas.microsoft.com/office/drawing/2014/main" id="{4CEDF81A-82FF-7AA6-78CD-A2EF9CBD317C}"/>
                  </a:ext>
                </a:extLst>
              </p:cNvPr>
              <p:cNvSpPr/>
              <p:nvPr/>
            </p:nvSpPr>
            <p:spPr>
              <a:xfrm>
                <a:off x="7097141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/>
                  <a:t>D</a:t>
                </a:r>
                <a:endParaRPr lang="de-DE" sz="1200" dirty="0"/>
              </a:p>
            </p:txBody>
          </p:sp>
          <p:sp>
            <p:nvSpPr>
              <p:cNvPr id="37" name="Rechteck 32">
                <a:extLst>
                  <a:ext uri="{FF2B5EF4-FFF2-40B4-BE49-F238E27FC236}">
                    <a16:creationId xmlns:a16="http://schemas.microsoft.com/office/drawing/2014/main" id="{F8601D1E-F70F-E45A-DB3A-2E598E9F22FF}"/>
                  </a:ext>
                </a:extLst>
              </p:cNvPr>
              <p:cNvSpPr/>
              <p:nvPr/>
            </p:nvSpPr>
            <p:spPr>
              <a:xfrm>
                <a:off x="6500560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/>
                  <a:t>G</a:t>
                </a:r>
                <a:endParaRPr lang="de-DE" sz="1200" dirty="0"/>
              </a:p>
            </p:txBody>
          </p:sp>
          <p:cxnSp>
            <p:nvCxnSpPr>
              <p:cNvPr id="38" name="Gerade Verbindung mit Pfeil 35">
                <a:extLst>
                  <a:ext uri="{FF2B5EF4-FFF2-40B4-BE49-F238E27FC236}">
                    <a16:creationId xmlns:a16="http://schemas.microsoft.com/office/drawing/2014/main" id="{BA46F8A4-7414-6DBB-3BAD-4F3892633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8952" y="4624085"/>
                <a:ext cx="418329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 Verbindung mit Pfeil 36">
                <a:extLst>
                  <a:ext uri="{FF2B5EF4-FFF2-40B4-BE49-F238E27FC236}">
                    <a16:creationId xmlns:a16="http://schemas.microsoft.com/office/drawing/2014/main" id="{C2FBB669-8970-632F-758F-F9C8130673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8952" y="4050362"/>
                <a:ext cx="0" cy="573723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hteck 42">
                <a:extLst>
                  <a:ext uri="{FF2B5EF4-FFF2-40B4-BE49-F238E27FC236}">
                    <a16:creationId xmlns:a16="http://schemas.microsoft.com/office/drawing/2014/main" id="{247E7303-2BAA-4A86-3D0C-AE7EEBBAF23B}"/>
                  </a:ext>
                </a:extLst>
              </p:cNvPr>
              <p:cNvSpPr/>
              <p:nvPr/>
            </p:nvSpPr>
            <p:spPr>
              <a:xfrm>
                <a:off x="6395998" y="4178435"/>
                <a:ext cx="485509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>
                    <a:solidFill>
                      <a:schemeClr val="bg1"/>
                    </a:solidFill>
                  </a:rPr>
                  <a:t>W</a:t>
                </a:r>
                <a:r>
                  <a:rPr lang="de-DE" sz="1200" baseline="-25000">
                    <a:solidFill>
                      <a:schemeClr val="bg1"/>
                    </a:solidFill>
                  </a:rPr>
                  <a:t>ch</a:t>
                </a:r>
                <a:endParaRPr lang="de-DE" sz="1200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Rechteck 43">
                <a:extLst>
                  <a:ext uri="{FF2B5EF4-FFF2-40B4-BE49-F238E27FC236}">
                    <a16:creationId xmlns:a16="http://schemas.microsoft.com/office/drawing/2014/main" id="{49EE88E1-96FB-A0A8-DA57-135677216A5E}"/>
                  </a:ext>
                </a:extLst>
              </p:cNvPr>
              <p:cNvSpPr/>
              <p:nvPr/>
            </p:nvSpPr>
            <p:spPr>
              <a:xfrm>
                <a:off x="6454353" y="4405155"/>
                <a:ext cx="427722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>
                    <a:solidFill>
                      <a:schemeClr val="bg1"/>
                    </a:solidFill>
                  </a:rPr>
                  <a:t>L</a:t>
                </a:r>
                <a:r>
                  <a:rPr lang="de-DE" sz="1200" baseline="-25000">
                    <a:solidFill>
                      <a:schemeClr val="bg1"/>
                    </a:solidFill>
                  </a:rPr>
                  <a:t>ch</a:t>
                </a:r>
                <a:endParaRPr lang="de-DE" sz="1200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Rechteck 11">
                <a:extLst>
                  <a:ext uri="{FF2B5EF4-FFF2-40B4-BE49-F238E27FC236}">
                    <a16:creationId xmlns:a16="http://schemas.microsoft.com/office/drawing/2014/main" id="{51391EED-BB23-EB34-4826-64019AEBC149}"/>
                  </a:ext>
                </a:extLst>
              </p:cNvPr>
              <p:cNvSpPr/>
              <p:nvPr/>
            </p:nvSpPr>
            <p:spPr>
              <a:xfrm>
                <a:off x="7616251" y="3995994"/>
                <a:ext cx="427045" cy="406611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/>
              </a:p>
            </p:txBody>
          </p:sp>
          <p:grpSp>
            <p:nvGrpSpPr>
              <p:cNvPr id="43" name="Gruppieren 14">
                <a:extLst>
                  <a:ext uri="{FF2B5EF4-FFF2-40B4-BE49-F238E27FC236}">
                    <a16:creationId xmlns:a16="http://schemas.microsoft.com/office/drawing/2014/main" id="{A0CED0BF-DB76-6AF1-F6EE-A41C3E6716ED}"/>
                  </a:ext>
                </a:extLst>
              </p:cNvPr>
              <p:cNvGrpSpPr/>
              <p:nvPr/>
            </p:nvGrpSpPr>
            <p:grpSpPr>
              <a:xfrm>
                <a:off x="7673472" y="3551524"/>
                <a:ext cx="312603" cy="1473643"/>
                <a:chOff x="5538925" y="3230425"/>
                <a:chExt cx="527050" cy="2294075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44" name="Rechteck: obere Ecken abgeschnitten 7">
                  <a:extLst>
                    <a:ext uri="{FF2B5EF4-FFF2-40B4-BE49-F238E27FC236}">
                      <a16:creationId xmlns:a16="http://schemas.microsoft.com/office/drawing/2014/main" id="{016E983A-FF2B-3147-1641-4338F613111A}"/>
                    </a:ext>
                  </a:extLst>
                </p:cNvPr>
                <p:cNvSpPr/>
                <p:nvPr/>
              </p:nvSpPr>
              <p:spPr>
                <a:xfrm>
                  <a:off x="5538925" y="5041900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  <p:sp>
              <p:nvSpPr>
                <p:cNvPr id="45" name="Rechteck 9">
                  <a:extLst>
                    <a:ext uri="{FF2B5EF4-FFF2-40B4-BE49-F238E27FC236}">
                      <a16:creationId xmlns:a16="http://schemas.microsoft.com/office/drawing/2014/main" id="{CD78D780-9D42-A2B0-B082-21570DF67FEA}"/>
                    </a:ext>
                  </a:extLst>
                </p:cNvPr>
                <p:cNvSpPr/>
                <p:nvPr/>
              </p:nvSpPr>
              <p:spPr>
                <a:xfrm>
                  <a:off x="5757275" y="3713025"/>
                  <a:ext cx="90350" cy="1328875"/>
                </a:xfrm>
                <a:prstGeom prst="rect">
                  <a:avLst/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  <p:sp>
              <p:nvSpPr>
                <p:cNvPr id="46" name="Rechteck: obere Ecken abgeschnitten 13">
                  <a:extLst>
                    <a:ext uri="{FF2B5EF4-FFF2-40B4-BE49-F238E27FC236}">
                      <a16:creationId xmlns:a16="http://schemas.microsoft.com/office/drawing/2014/main" id="{063296FA-B208-3033-2013-6EB2FA6D3E43}"/>
                    </a:ext>
                  </a:extLst>
                </p:cNvPr>
                <p:cNvSpPr/>
                <p:nvPr/>
              </p:nvSpPr>
              <p:spPr>
                <a:xfrm rot="10800000">
                  <a:off x="5538925" y="3230425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E18071F-710E-3435-F1DA-4D68BED9F0FC}"/>
                  </a:ext>
                </a:extLst>
              </p:cNvPr>
              <p:cNvSpPr txBox="1"/>
              <p:nvPr/>
            </p:nvSpPr>
            <p:spPr>
              <a:xfrm>
                <a:off x="6995769" y="5245196"/>
                <a:ext cx="666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(b)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48A1015-3E20-520E-CE82-11F7B919AC3C}"/>
                  </a:ext>
                </a:extLst>
              </p:cNvPr>
              <p:cNvSpPr txBox="1"/>
              <p:nvPr/>
            </p:nvSpPr>
            <p:spPr>
              <a:xfrm>
                <a:off x="7651750" y="5023866"/>
                <a:ext cx="6667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TE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8F38530-F656-D336-B512-42514C677E70}"/>
                  </a:ext>
                </a:extLst>
              </p:cNvPr>
              <p:cNvSpPr txBox="1"/>
              <p:nvPr/>
            </p:nvSpPr>
            <p:spPr>
              <a:xfrm>
                <a:off x="8222357" y="3796462"/>
                <a:ext cx="54052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BE</a:t>
                </a:r>
              </a:p>
            </p:txBody>
          </p:sp>
        </p:grpSp>
        <p:sp>
          <p:nvSpPr>
            <p:cNvPr id="71" name="Rechteck 15">
              <a:extLst>
                <a:ext uri="{FF2B5EF4-FFF2-40B4-BE49-F238E27FC236}">
                  <a16:creationId xmlns:a16="http://schemas.microsoft.com/office/drawing/2014/main" id="{DDA416F1-95FC-4570-FCA3-24E23810FC08}"/>
                </a:ext>
              </a:extLst>
            </p:cNvPr>
            <p:cNvSpPr/>
            <p:nvPr/>
          </p:nvSpPr>
          <p:spPr>
            <a:xfrm>
              <a:off x="3208383" y="3547416"/>
              <a:ext cx="379317" cy="706304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dirty="0"/>
            </a:p>
          </p:txBody>
        </p:sp>
        <p:sp>
          <p:nvSpPr>
            <p:cNvPr id="4" name="Rechteck 15">
              <a:extLst>
                <a:ext uri="{FF2B5EF4-FFF2-40B4-BE49-F238E27FC236}">
                  <a16:creationId xmlns:a16="http://schemas.microsoft.com/office/drawing/2014/main" id="{A02AB37B-E8E0-4A54-5851-51419DBE3EE6}"/>
                </a:ext>
              </a:extLst>
            </p:cNvPr>
            <p:cNvSpPr/>
            <p:nvPr/>
          </p:nvSpPr>
          <p:spPr>
            <a:xfrm>
              <a:off x="3563406" y="3483687"/>
              <a:ext cx="146839" cy="760760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/>
            </a:p>
          </p:txBody>
        </p:sp>
        <p:sp>
          <p:nvSpPr>
            <p:cNvPr id="76" name="Rechteck 15">
              <a:extLst>
                <a:ext uri="{FF2B5EF4-FFF2-40B4-BE49-F238E27FC236}">
                  <a16:creationId xmlns:a16="http://schemas.microsoft.com/office/drawing/2014/main" id="{70352CC0-7BA9-C248-AEBE-D7526D47CA37}"/>
                </a:ext>
              </a:extLst>
            </p:cNvPr>
            <p:cNvSpPr/>
            <p:nvPr/>
          </p:nvSpPr>
          <p:spPr>
            <a:xfrm>
              <a:off x="1249855" y="3536309"/>
              <a:ext cx="137585" cy="814733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/>
            </a:p>
          </p:txBody>
        </p:sp>
        <p:sp>
          <p:nvSpPr>
            <p:cNvPr id="3" name="Rechteck 15">
              <a:extLst>
                <a:ext uri="{FF2B5EF4-FFF2-40B4-BE49-F238E27FC236}">
                  <a16:creationId xmlns:a16="http://schemas.microsoft.com/office/drawing/2014/main" id="{4388D54E-F5E4-6F46-8A79-6D78B7191346}"/>
                </a:ext>
              </a:extLst>
            </p:cNvPr>
            <p:cNvSpPr/>
            <p:nvPr/>
          </p:nvSpPr>
          <p:spPr>
            <a:xfrm>
              <a:off x="1024122" y="4201360"/>
              <a:ext cx="423285" cy="143666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/>
                <a:t>      </a:t>
              </a:r>
              <a:endParaRPr lang="de-DE" sz="700" dirty="0"/>
            </a:p>
          </p:txBody>
        </p:sp>
        <p:sp>
          <p:nvSpPr>
            <p:cNvPr id="20" name="Rechteck 15">
              <a:extLst>
                <a:ext uri="{FF2B5EF4-FFF2-40B4-BE49-F238E27FC236}">
                  <a16:creationId xmlns:a16="http://schemas.microsoft.com/office/drawing/2014/main" id="{7C3E13F7-C21E-82FA-5478-0074828269B5}"/>
                </a:ext>
              </a:extLst>
            </p:cNvPr>
            <p:cNvSpPr/>
            <p:nvPr/>
          </p:nvSpPr>
          <p:spPr>
            <a:xfrm>
              <a:off x="3563568" y="3927501"/>
              <a:ext cx="1572378" cy="326219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/>
                <a:t>         Pt</a:t>
              </a:r>
            </a:p>
          </p:txBody>
        </p:sp>
        <p:sp>
          <p:nvSpPr>
            <p:cNvPr id="21" name="Rechteck 15">
              <a:extLst>
                <a:ext uri="{FF2B5EF4-FFF2-40B4-BE49-F238E27FC236}">
                  <a16:creationId xmlns:a16="http://schemas.microsoft.com/office/drawing/2014/main" id="{C8008646-E8E8-FE96-B3ED-F2D987FCABB4}"/>
                </a:ext>
              </a:extLst>
            </p:cNvPr>
            <p:cNvSpPr/>
            <p:nvPr/>
          </p:nvSpPr>
          <p:spPr>
            <a:xfrm>
              <a:off x="3481453" y="4232430"/>
              <a:ext cx="1654492" cy="12462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                    Ti</a:t>
              </a:r>
            </a:p>
          </p:txBody>
        </p:sp>
        <p:sp>
          <p:nvSpPr>
            <p:cNvPr id="75" name="Rechteck 15">
              <a:extLst>
                <a:ext uri="{FF2B5EF4-FFF2-40B4-BE49-F238E27FC236}">
                  <a16:creationId xmlns:a16="http://schemas.microsoft.com/office/drawing/2014/main" id="{32DB7A28-7E2F-E776-0394-C321F298D81A}"/>
                </a:ext>
              </a:extLst>
            </p:cNvPr>
            <p:cNvSpPr/>
            <p:nvPr/>
          </p:nvSpPr>
          <p:spPr>
            <a:xfrm>
              <a:off x="1366834" y="3551784"/>
              <a:ext cx="276867" cy="807145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dirty="0"/>
            </a:p>
          </p:txBody>
        </p:sp>
        <p:sp>
          <p:nvSpPr>
            <p:cNvPr id="57" name="Rechteck 8">
              <a:extLst>
                <a:ext uri="{FF2B5EF4-FFF2-40B4-BE49-F238E27FC236}">
                  <a16:creationId xmlns:a16="http://schemas.microsoft.com/office/drawing/2014/main" id="{549B846E-F72D-C131-0DBC-70D86E2A84D9}"/>
                </a:ext>
              </a:extLst>
            </p:cNvPr>
            <p:cNvSpPr/>
            <p:nvPr/>
          </p:nvSpPr>
          <p:spPr>
            <a:xfrm>
              <a:off x="1454693" y="3855640"/>
              <a:ext cx="214821" cy="50003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6" name="Rechteck 8">
              <a:extLst>
                <a:ext uri="{FF2B5EF4-FFF2-40B4-BE49-F238E27FC236}">
                  <a16:creationId xmlns:a16="http://schemas.microsoft.com/office/drawing/2014/main" id="{A2BFFC6F-F7DC-8F74-4CE2-756780F76193}"/>
                </a:ext>
              </a:extLst>
            </p:cNvPr>
            <p:cNvSpPr/>
            <p:nvPr/>
          </p:nvSpPr>
          <p:spPr>
            <a:xfrm>
              <a:off x="3286551" y="3857340"/>
              <a:ext cx="201448" cy="51569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hteck 8">
              <a:extLst>
                <a:ext uri="{FF2B5EF4-FFF2-40B4-BE49-F238E27FC236}">
                  <a16:creationId xmlns:a16="http://schemas.microsoft.com/office/drawing/2014/main" id="{607B019C-BA1F-8D7F-350C-F0EA35D1CEEB}"/>
                </a:ext>
              </a:extLst>
            </p:cNvPr>
            <p:cNvSpPr/>
            <p:nvPr/>
          </p:nvSpPr>
          <p:spPr>
            <a:xfrm>
              <a:off x="3244800" y="4352654"/>
              <a:ext cx="1891146" cy="20679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A174642-3376-0F4F-2020-B4FA2899EFB8}"/>
                </a:ext>
              </a:extLst>
            </p:cNvPr>
            <p:cNvSpPr/>
            <p:nvPr/>
          </p:nvSpPr>
          <p:spPr>
            <a:xfrm>
              <a:off x="1249855" y="3243775"/>
              <a:ext cx="520589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/>
                <a:t>Pt</a:t>
              </a:r>
              <a:endParaRPr lang="de-DE" sz="1400" dirty="0"/>
            </a:p>
          </p:txBody>
        </p:sp>
        <p:sp>
          <p:nvSpPr>
            <p:cNvPr id="8" name="Rechteck 8">
              <a:extLst>
                <a:ext uri="{FF2B5EF4-FFF2-40B4-BE49-F238E27FC236}">
                  <a16:creationId xmlns:a16="http://schemas.microsoft.com/office/drawing/2014/main" id="{5B3672BE-E72B-6513-ED3C-C19329D08F6F}"/>
                </a:ext>
              </a:extLst>
            </p:cNvPr>
            <p:cNvSpPr/>
            <p:nvPr/>
          </p:nvSpPr>
          <p:spPr>
            <a:xfrm>
              <a:off x="1024123" y="4340234"/>
              <a:ext cx="675169" cy="2206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>
                <a:solidFill>
                  <a:schemeClr val="bg1"/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D50F9D7-489F-9DF6-B239-31801D67166A}"/>
                </a:ext>
              </a:extLst>
            </p:cNvPr>
            <p:cNvSpPr/>
            <p:nvPr/>
          </p:nvSpPr>
          <p:spPr>
            <a:xfrm>
              <a:off x="1455656" y="3851006"/>
              <a:ext cx="2032343" cy="21287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Al₂O₃</a:t>
              </a:r>
            </a:p>
          </p:txBody>
        </p:sp>
        <p:sp>
          <p:nvSpPr>
            <p:cNvPr id="11" name="Rechteck 12">
              <a:extLst>
                <a:ext uri="{FF2B5EF4-FFF2-40B4-BE49-F238E27FC236}">
                  <a16:creationId xmlns:a16="http://schemas.microsoft.com/office/drawing/2014/main" id="{9576187D-52EB-B048-AA61-2B99D7994082}"/>
                </a:ext>
              </a:extLst>
            </p:cNvPr>
            <p:cNvSpPr/>
            <p:nvPr/>
          </p:nvSpPr>
          <p:spPr>
            <a:xfrm>
              <a:off x="1455657" y="3645974"/>
              <a:ext cx="2032342" cy="206795"/>
            </a:xfrm>
            <a:prstGeom prst="rect">
              <a:avLst/>
            </a:prstGeom>
            <a:solidFill>
              <a:srgbClr val="F2D9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IGZO</a:t>
              </a:r>
            </a:p>
          </p:txBody>
        </p:sp>
        <p:sp>
          <p:nvSpPr>
            <p:cNvPr id="13" name="Rechteck 15">
              <a:extLst>
                <a:ext uri="{FF2B5EF4-FFF2-40B4-BE49-F238E27FC236}">
                  <a16:creationId xmlns:a16="http://schemas.microsoft.com/office/drawing/2014/main" id="{95F9442A-71A6-DB9C-6B89-217907B2696D}"/>
                </a:ext>
              </a:extLst>
            </p:cNvPr>
            <p:cNvSpPr/>
            <p:nvPr/>
          </p:nvSpPr>
          <p:spPr>
            <a:xfrm>
              <a:off x="1663818" y="4059563"/>
              <a:ext cx="1624579" cy="407076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/>
                <a:t>Pt</a:t>
              </a:r>
              <a:endParaRPr lang="de-DE" sz="1400" dirty="0"/>
            </a:p>
          </p:txBody>
        </p:sp>
        <p:sp>
          <p:nvSpPr>
            <p:cNvPr id="15" name="Rechteck 15">
              <a:extLst>
                <a:ext uri="{FF2B5EF4-FFF2-40B4-BE49-F238E27FC236}">
                  <a16:creationId xmlns:a16="http://schemas.microsoft.com/office/drawing/2014/main" id="{68395341-339B-3046-C5C3-9E281BEF5B2D}"/>
                </a:ext>
              </a:extLst>
            </p:cNvPr>
            <p:cNvSpPr/>
            <p:nvPr/>
          </p:nvSpPr>
          <p:spPr>
            <a:xfrm>
              <a:off x="1663818" y="4462627"/>
              <a:ext cx="1624579" cy="103397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/>
                <a:t>Ti</a:t>
              </a:r>
              <a:endParaRPr lang="de-DE" sz="700" dirty="0"/>
            </a:p>
          </p:txBody>
        </p:sp>
        <p:sp>
          <p:nvSpPr>
            <p:cNvPr id="18" name="Rechteck 15">
              <a:extLst>
                <a:ext uri="{FF2B5EF4-FFF2-40B4-BE49-F238E27FC236}">
                  <a16:creationId xmlns:a16="http://schemas.microsoft.com/office/drawing/2014/main" id="{3B32623B-D80A-A4A4-CCD3-3311DD9A778E}"/>
                </a:ext>
              </a:extLst>
            </p:cNvPr>
            <p:cNvSpPr/>
            <p:nvPr/>
          </p:nvSpPr>
          <p:spPr>
            <a:xfrm>
              <a:off x="3176077" y="3248983"/>
              <a:ext cx="534169" cy="316616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/>
                <a:t>Pt</a:t>
              </a:r>
              <a:endParaRPr lang="de-DE" sz="1400" dirty="0"/>
            </a:p>
          </p:txBody>
        </p:sp>
        <p:sp>
          <p:nvSpPr>
            <p:cNvPr id="17" name="Rechteck 15">
              <a:extLst>
                <a:ext uri="{FF2B5EF4-FFF2-40B4-BE49-F238E27FC236}">
                  <a16:creationId xmlns:a16="http://schemas.microsoft.com/office/drawing/2014/main" id="{154D7AFB-6235-486A-FDFC-A755F50610E8}"/>
                </a:ext>
              </a:extLst>
            </p:cNvPr>
            <p:cNvSpPr/>
            <p:nvPr/>
          </p:nvSpPr>
          <p:spPr>
            <a:xfrm>
              <a:off x="1391128" y="3551784"/>
              <a:ext cx="379316" cy="9867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/>
                <a:t> Ti</a:t>
              </a:r>
              <a:endParaRPr lang="de-DE" sz="700" dirty="0"/>
            </a:p>
          </p:txBody>
        </p:sp>
        <p:sp>
          <p:nvSpPr>
            <p:cNvPr id="22" name="Rechteck 12">
              <a:extLst>
                <a:ext uri="{FF2B5EF4-FFF2-40B4-BE49-F238E27FC236}">
                  <a16:creationId xmlns:a16="http://schemas.microsoft.com/office/drawing/2014/main" id="{4C2C2DE5-3A1C-0892-5E00-7485B0C501C5}"/>
                </a:ext>
              </a:extLst>
            </p:cNvPr>
            <p:cNvSpPr/>
            <p:nvPr/>
          </p:nvSpPr>
          <p:spPr>
            <a:xfrm>
              <a:off x="4118586" y="3720607"/>
              <a:ext cx="941240" cy="206795"/>
            </a:xfrm>
            <a:prstGeom prst="rect">
              <a:avLst/>
            </a:prstGeom>
            <a:solidFill>
              <a:srgbClr val="F2D9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IGZO</a:t>
              </a:r>
            </a:p>
          </p:txBody>
        </p:sp>
        <p:sp>
          <p:nvSpPr>
            <p:cNvPr id="73" name="Rechteck 15">
              <a:extLst>
                <a:ext uri="{FF2B5EF4-FFF2-40B4-BE49-F238E27FC236}">
                  <a16:creationId xmlns:a16="http://schemas.microsoft.com/office/drawing/2014/main" id="{DE829E34-4CC5-C046-81C4-D6D46E0FB978}"/>
                </a:ext>
              </a:extLst>
            </p:cNvPr>
            <p:cNvSpPr/>
            <p:nvPr/>
          </p:nvSpPr>
          <p:spPr>
            <a:xfrm>
              <a:off x="4118653" y="3319200"/>
              <a:ext cx="942087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/>
                <a:t>Pt</a:t>
              </a:r>
              <a:endParaRPr lang="de-DE" sz="1400" dirty="0"/>
            </a:p>
          </p:txBody>
        </p:sp>
        <p:sp>
          <p:nvSpPr>
            <p:cNvPr id="74" name="Rechteck 15">
              <a:extLst>
                <a:ext uri="{FF2B5EF4-FFF2-40B4-BE49-F238E27FC236}">
                  <a16:creationId xmlns:a16="http://schemas.microsoft.com/office/drawing/2014/main" id="{FA6A777F-A677-0540-1610-1D425257F67B}"/>
                </a:ext>
              </a:extLst>
            </p:cNvPr>
            <p:cNvSpPr/>
            <p:nvPr/>
          </p:nvSpPr>
          <p:spPr>
            <a:xfrm>
              <a:off x="4118586" y="3619441"/>
              <a:ext cx="942088" cy="103397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Ti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598200-49C9-5C34-214C-4BE9E52F13F4}"/>
                </a:ext>
              </a:extLst>
            </p:cNvPr>
            <p:cNvSpPr txBox="1"/>
            <p:nvPr/>
          </p:nvSpPr>
          <p:spPr>
            <a:xfrm>
              <a:off x="3318517" y="5151053"/>
              <a:ext cx="523518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FF3366-B47D-16AB-DEA0-A5486B4ED4F6}"/>
                </a:ext>
              </a:extLst>
            </p:cNvPr>
            <p:cNvSpPr txBox="1"/>
            <p:nvPr/>
          </p:nvSpPr>
          <p:spPr>
            <a:xfrm>
              <a:off x="1343312" y="2851572"/>
              <a:ext cx="344088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570E73-FB38-2BAC-F5B7-59E11F6CC245}"/>
                </a:ext>
              </a:extLst>
            </p:cNvPr>
            <p:cNvSpPr txBox="1"/>
            <p:nvPr/>
          </p:nvSpPr>
          <p:spPr>
            <a:xfrm>
              <a:off x="3264335" y="2853242"/>
              <a:ext cx="344088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BC7E56-0474-B6A5-F951-E61C9F3C48BC}"/>
                </a:ext>
              </a:extLst>
            </p:cNvPr>
            <p:cNvSpPr txBox="1"/>
            <p:nvPr/>
          </p:nvSpPr>
          <p:spPr>
            <a:xfrm>
              <a:off x="4334156" y="2944001"/>
              <a:ext cx="508895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TE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A510DEB-401A-78FE-FC39-0347EF14415C}"/>
                </a:ext>
              </a:extLst>
            </p:cNvPr>
            <p:cNvSpPr txBox="1"/>
            <p:nvPr/>
          </p:nvSpPr>
          <p:spPr>
            <a:xfrm>
              <a:off x="5056738" y="3939395"/>
              <a:ext cx="632373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BE</a:t>
              </a:r>
            </a:p>
          </p:txBody>
        </p:sp>
        <p:sp>
          <p:nvSpPr>
            <p:cNvPr id="67" name="Rechteck 15">
              <a:extLst>
                <a:ext uri="{FF2B5EF4-FFF2-40B4-BE49-F238E27FC236}">
                  <a16:creationId xmlns:a16="http://schemas.microsoft.com/office/drawing/2014/main" id="{6264FFBF-552D-4CA2-E141-A3135C4D7EFF}"/>
                </a:ext>
              </a:extLst>
            </p:cNvPr>
            <p:cNvSpPr/>
            <p:nvPr/>
          </p:nvSpPr>
          <p:spPr>
            <a:xfrm>
              <a:off x="3176076" y="3547416"/>
              <a:ext cx="387330" cy="9867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/>
                <a:t> Ti</a:t>
              </a:r>
              <a:endParaRPr lang="de-DE" sz="700" dirty="0"/>
            </a:p>
          </p:txBody>
        </p:sp>
        <p:sp>
          <p:nvSpPr>
            <p:cNvPr id="5" name="Rechteck 15">
              <a:extLst>
                <a:ext uri="{FF2B5EF4-FFF2-40B4-BE49-F238E27FC236}">
                  <a16:creationId xmlns:a16="http://schemas.microsoft.com/office/drawing/2014/main" id="{A70B43E6-AC93-858F-D441-81F79A24ECAB}"/>
                </a:ext>
              </a:extLst>
            </p:cNvPr>
            <p:cNvSpPr/>
            <p:nvPr/>
          </p:nvSpPr>
          <p:spPr>
            <a:xfrm>
              <a:off x="1023371" y="3896488"/>
              <a:ext cx="345469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/>
            </a:p>
          </p:txBody>
        </p:sp>
        <p:sp>
          <p:nvSpPr>
            <p:cNvPr id="6" name="Rechteck 3">
              <a:extLst>
                <a:ext uri="{FF2B5EF4-FFF2-40B4-BE49-F238E27FC236}">
                  <a16:creationId xmlns:a16="http://schemas.microsoft.com/office/drawing/2014/main" id="{69B44FD1-99C5-1411-3B38-73A7EF8AD3FF}"/>
                </a:ext>
              </a:extLst>
            </p:cNvPr>
            <p:cNvSpPr/>
            <p:nvPr/>
          </p:nvSpPr>
          <p:spPr>
            <a:xfrm>
              <a:off x="1024122" y="4626530"/>
              <a:ext cx="4111823" cy="5600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Si/SiO</a:t>
              </a:r>
              <a:r>
                <a:rPr lang="de-DE" baseline="-25000" dirty="0">
                  <a:solidFill>
                    <a:schemeClr val="tx1"/>
                  </a:solidFill>
                </a:rPr>
                <a:t>2</a:t>
              </a:r>
              <a:r>
                <a:rPr lang="de-DE" dirty="0">
                  <a:solidFill>
                    <a:schemeClr val="tx1"/>
                  </a:solidFill>
                </a:rPr>
                <a:t> substrate</a:t>
              </a:r>
            </a:p>
          </p:txBody>
        </p:sp>
        <p:sp>
          <p:nvSpPr>
            <p:cNvPr id="7" name="Rechteck 20">
              <a:extLst>
                <a:ext uri="{FF2B5EF4-FFF2-40B4-BE49-F238E27FC236}">
                  <a16:creationId xmlns:a16="http://schemas.microsoft.com/office/drawing/2014/main" id="{4DC242E6-4240-E0E3-CB18-A061DE5A2D33}"/>
                </a:ext>
              </a:extLst>
            </p:cNvPr>
            <p:cNvSpPr/>
            <p:nvPr/>
          </p:nvSpPr>
          <p:spPr>
            <a:xfrm>
              <a:off x="1024122" y="4559281"/>
              <a:ext cx="4111823" cy="6724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78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AF4AEF4-20B2-B037-DAB4-AA2E3C54FFA1}"/>
              </a:ext>
            </a:extLst>
          </p:cNvPr>
          <p:cNvGrpSpPr/>
          <p:nvPr/>
        </p:nvGrpSpPr>
        <p:grpSpPr>
          <a:xfrm>
            <a:off x="1023371" y="544126"/>
            <a:ext cx="7795625" cy="5042978"/>
            <a:chOff x="1023371" y="544126"/>
            <a:chExt cx="7795625" cy="5042978"/>
          </a:xfrm>
        </p:grpSpPr>
        <p:sp>
          <p:nvSpPr>
            <p:cNvPr id="68" name="Rechteck 15">
              <a:extLst>
                <a:ext uri="{FF2B5EF4-FFF2-40B4-BE49-F238E27FC236}">
                  <a16:creationId xmlns:a16="http://schemas.microsoft.com/office/drawing/2014/main" id="{E2136C35-650B-41BD-7F53-DB341F5D084B}"/>
                </a:ext>
              </a:extLst>
            </p:cNvPr>
            <p:cNvSpPr/>
            <p:nvPr/>
          </p:nvSpPr>
          <p:spPr>
            <a:xfrm>
              <a:off x="3954004" y="3536308"/>
              <a:ext cx="382032" cy="409365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/>
            </a:p>
          </p:txBody>
        </p:sp>
        <p:sp>
          <p:nvSpPr>
            <p:cNvPr id="22" name="Rechteck 12">
              <a:extLst>
                <a:ext uri="{FF2B5EF4-FFF2-40B4-BE49-F238E27FC236}">
                  <a16:creationId xmlns:a16="http://schemas.microsoft.com/office/drawing/2014/main" id="{4C2C2DE5-3A1C-0892-5E00-7485B0C501C5}"/>
                </a:ext>
              </a:extLst>
            </p:cNvPr>
            <p:cNvSpPr/>
            <p:nvPr/>
          </p:nvSpPr>
          <p:spPr>
            <a:xfrm>
              <a:off x="4652865" y="3719835"/>
              <a:ext cx="941240" cy="225839"/>
            </a:xfrm>
            <a:prstGeom prst="rect">
              <a:avLst/>
            </a:prstGeom>
            <a:solidFill>
              <a:srgbClr val="F2D9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>
                  <a:solidFill>
                    <a:schemeClr val="bg1"/>
                  </a:solidFill>
                </a:rPr>
                <a:t>IGZO</a:t>
              </a:r>
            </a:p>
          </p:txBody>
        </p:sp>
        <p:sp>
          <p:nvSpPr>
            <p:cNvPr id="20" name="Rechteck 15">
              <a:extLst>
                <a:ext uri="{FF2B5EF4-FFF2-40B4-BE49-F238E27FC236}">
                  <a16:creationId xmlns:a16="http://schemas.microsoft.com/office/drawing/2014/main" id="{7C3E13F7-C21E-82FA-5478-0074828269B5}"/>
                </a:ext>
              </a:extLst>
            </p:cNvPr>
            <p:cNvSpPr/>
            <p:nvPr/>
          </p:nvSpPr>
          <p:spPr>
            <a:xfrm>
              <a:off x="3563567" y="3927501"/>
              <a:ext cx="2050680" cy="326219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                       Pt</a:t>
              </a:r>
            </a:p>
          </p:txBody>
        </p:sp>
        <p:sp>
          <p:nvSpPr>
            <p:cNvPr id="65" name="Rechteck 15">
              <a:extLst>
                <a:ext uri="{FF2B5EF4-FFF2-40B4-BE49-F238E27FC236}">
                  <a16:creationId xmlns:a16="http://schemas.microsoft.com/office/drawing/2014/main" id="{CFA44BBD-0D32-97D9-2DBD-20FE79FC74EC}"/>
                </a:ext>
              </a:extLst>
            </p:cNvPr>
            <p:cNvSpPr/>
            <p:nvPr/>
          </p:nvSpPr>
          <p:spPr>
            <a:xfrm>
              <a:off x="4102819" y="3828131"/>
              <a:ext cx="104111" cy="723656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b="1" dirty="0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0C57D30-5A5B-57E3-C0C9-0D782AC3B9D6}"/>
                </a:ext>
              </a:extLst>
            </p:cNvPr>
            <p:cNvGrpSpPr/>
            <p:nvPr/>
          </p:nvGrpSpPr>
          <p:grpSpPr>
            <a:xfrm>
              <a:off x="6001576" y="3574723"/>
              <a:ext cx="2817420" cy="2012381"/>
              <a:chOff x="5762463" y="3458047"/>
              <a:chExt cx="3000419" cy="2188872"/>
            </a:xfrm>
          </p:grpSpPr>
          <p:sp>
            <p:nvSpPr>
              <p:cNvPr id="27" name="Rechteck 4">
                <a:extLst>
                  <a:ext uri="{FF2B5EF4-FFF2-40B4-BE49-F238E27FC236}">
                    <a16:creationId xmlns:a16="http://schemas.microsoft.com/office/drawing/2014/main" id="{90A3641C-B18D-D51F-98E0-DB700285F638}"/>
                  </a:ext>
                </a:extLst>
              </p:cNvPr>
              <p:cNvSpPr/>
              <p:nvPr/>
            </p:nvSpPr>
            <p:spPr>
              <a:xfrm>
                <a:off x="5762463" y="3458047"/>
                <a:ext cx="2898820" cy="180436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 b="1"/>
              </a:p>
            </p:txBody>
          </p:sp>
          <p:grpSp>
            <p:nvGrpSpPr>
              <p:cNvPr id="48" name="Gruppieren 16">
                <a:extLst>
                  <a:ext uri="{FF2B5EF4-FFF2-40B4-BE49-F238E27FC236}">
                    <a16:creationId xmlns:a16="http://schemas.microsoft.com/office/drawing/2014/main" id="{50996B2D-3ACD-1A26-9084-B66FDCBFB71F}"/>
                  </a:ext>
                </a:extLst>
              </p:cNvPr>
              <p:cNvGrpSpPr/>
              <p:nvPr/>
            </p:nvGrpSpPr>
            <p:grpSpPr>
              <a:xfrm rot="5400000">
                <a:off x="7704947" y="3494976"/>
                <a:ext cx="297646" cy="1408648"/>
                <a:chOff x="5538924" y="3149509"/>
                <a:chExt cx="527051" cy="2374991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49" name="Rechteck: obere Ecken abgeschnitten 17">
                  <a:extLst>
                    <a:ext uri="{FF2B5EF4-FFF2-40B4-BE49-F238E27FC236}">
                      <a16:creationId xmlns:a16="http://schemas.microsoft.com/office/drawing/2014/main" id="{AFA5FCE8-B6FA-77A0-FA96-A4C368EE2B21}"/>
                    </a:ext>
                  </a:extLst>
                </p:cNvPr>
                <p:cNvSpPr/>
                <p:nvPr/>
              </p:nvSpPr>
              <p:spPr>
                <a:xfrm>
                  <a:off x="5538925" y="5041900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5A65A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 b="1"/>
                </a:p>
              </p:txBody>
            </p:sp>
            <p:sp>
              <p:nvSpPr>
                <p:cNvPr id="50" name="Rechteck 18">
                  <a:extLst>
                    <a:ext uri="{FF2B5EF4-FFF2-40B4-BE49-F238E27FC236}">
                      <a16:creationId xmlns:a16="http://schemas.microsoft.com/office/drawing/2014/main" id="{45528A9E-F94A-75E1-3478-B2D7EC6BE1C2}"/>
                    </a:ext>
                  </a:extLst>
                </p:cNvPr>
                <p:cNvSpPr/>
                <p:nvPr/>
              </p:nvSpPr>
              <p:spPr>
                <a:xfrm>
                  <a:off x="5757275" y="3713025"/>
                  <a:ext cx="90350" cy="1328875"/>
                </a:xfrm>
                <a:prstGeom prst="rect">
                  <a:avLst/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 b="1"/>
                </a:p>
              </p:txBody>
            </p:sp>
            <p:sp>
              <p:nvSpPr>
                <p:cNvPr id="51" name="Rechteck: obere Ecken abgeschnitten 19">
                  <a:extLst>
                    <a:ext uri="{FF2B5EF4-FFF2-40B4-BE49-F238E27FC236}">
                      <a16:creationId xmlns:a16="http://schemas.microsoft.com/office/drawing/2014/main" id="{5623A9C9-40D0-EE7C-D57A-F876CE55DC47}"/>
                    </a:ext>
                  </a:extLst>
                </p:cNvPr>
                <p:cNvSpPr/>
                <p:nvPr/>
              </p:nvSpPr>
              <p:spPr>
                <a:xfrm rot="10800000">
                  <a:off x="5538924" y="3149509"/>
                  <a:ext cx="527050" cy="563516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 b="1"/>
                </a:p>
              </p:txBody>
            </p:sp>
          </p:grpSp>
          <p:sp>
            <p:nvSpPr>
              <p:cNvPr id="28" name="Rechteck 21">
                <a:extLst>
                  <a:ext uri="{FF2B5EF4-FFF2-40B4-BE49-F238E27FC236}">
                    <a16:creationId xmlns:a16="http://schemas.microsoft.com/office/drawing/2014/main" id="{F9549197-002B-FD89-9AA9-CD9B6169FF84}"/>
                  </a:ext>
                </a:extLst>
              </p:cNvPr>
              <p:cNvSpPr/>
              <p:nvPr/>
            </p:nvSpPr>
            <p:spPr>
              <a:xfrm>
                <a:off x="5903979" y="4050362"/>
                <a:ext cx="231985" cy="1071523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 b="1"/>
              </a:p>
            </p:txBody>
          </p:sp>
          <p:sp>
            <p:nvSpPr>
              <p:cNvPr id="29" name="Rechteck 22">
                <a:extLst>
                  <a:ext uri="{FF2B5EF4-FFF2-40B4-BE49-F238E27FC236}">
                    <a16:creationId xmlns:a16="http://schemas.microsoft.com/office/drawing/2014/main" id="{E978E614-4711-482E-2FFD-243FF2495C5C}"/>
                  </a:ext>
                </a:extLst>
              </p:cNvPr>
              <p:cNvSpPr/>
              <p:nvPr/>
            </p:nvSpPr>
            <p:spPr>
              <a:xfrm>
                <a:off x="7097141" y="4050362"/>
                <a:ext cx="231985" cy="1071523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 b="1"/>
              </a:p>
            </p:txBody>
          </p:sp>
          <p:sp>
            <p:nvSpPr>
              <p:cNvPr id="30" name="Rechteck 24">
                <a:extLst>
                  <a:ext uri="{FF2B5EF4-FFF2-40B4-BE49-F238E27FC236}">
                    <a16:creationId xmlns:a16="http://schemas.microsoft.com/office/drawing/2014/main" id="{C549A44C-8587-8118-3A68-666B57944BC4}"/>
                  </a:ext>
                </a:extLst>
              </p:cNvPr>
              <p:cNvSpPr/>
              <p:nvPr/>
            </p:nvSpPr>
            <p:spPr>
              <a:xfrm>
                <a:off x="5903979" y="4050362"/>
                <a:ext cx="461845" cy="63617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 b="1"/>
              </a:p>
            </p:txBody>
          </p:sp>
          <p:sp>
            <p:nvSpPr>
              <p:cNvPr id="31" name="Rechteck 26">
                <a:extLst>
                  <a:ext uri="{FF2B5EF4-FFF2-40B4-BE49-F238E27FC236}">
                    <a16:creationId xmlns:a16="http://schemas.microsoft.com/office/drawing/2014/main" id="{310C03AA-C3EF-4A95-7D76-49A5B964E5C0}"/>
                  </a:ext>
                </a:extLst>
              </p:cNvPr>
              <p:cNvSpPr/>
              <p:nvPr/>
            </p:nvSpPr>
            <p:spPr>
              <a:xfrm>
                <a:off x="6867281" y="4050362"/>
                <a:ext cx="461845" cy="63617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 b="1"/>
              </a:p>
            </p:txBody>
          </p:sp>
          <p:sp>
            <p:nvSpPr>
              <p:cNvPr id="32" name="Rechteck 27">
                <a:extLst>
                  <a:ext uri="{FF2B5EF4-FFF2-40B4-BE49-F238E27FC236}">
                    <a16:creationId xmlns:a16="http://schemas.microsoft.com/office/drawing/2014/main" id="{DE3C3516-C8B7-92FD-665D-6AF79206113A}"/>
                  </a:ext>
                </a:extLst>
              </p:cNvPr>
              <p:cNvSpPr/>
              <p:nvPr/>
            </p:nvSpPr>
            <p:spPr>
              <a:xfrm>
                <a:off x="6212417" y="4050362"/>
                <a:ext cx="808743" cy="636172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hteck 29">
                <a:extLst>
                  <a:ext uri="{FF2B5EF4-FFF2-40B4-BE49-F238E27FC236}">
                    <a16:creationId xmlns:a16="http://schemas.microsoft.com/office/drawing/2014/main" id="{425A69D2-A153-1126-5B5B-B8A4E011079F}"/>
                  </a:ext>
                </a:extLst>
              </p:cNvPr>
              <p:cNvSpPr/>
              <p:nvPr/>
            </p:nvSpPr>
            <p:spPr>
              <a:xfrm>
                <a:off x="6320629" y="3835936"/>
                <a:ext cx="591848" cy="1285948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 b="1" dirty="0"/>
              </a:p>
            </p:txBody>
          </p:sp>
          <p:sp>
            <p:nvSpPr>
              <p:cNvPr id="33" name="Rechteck 28">
                <a:extLst>
                  <a:ext uri="{FF2B5EF4-FFF2-40B4-BE49-F238E27FC236}">
                    <a16:creationId xmlns:a16="http://schemas.microsoft.com/office/drawing/2014/main" id="{C0461D4B-D6A7-FDC9-045C-D023400C23A1}"/>
                  </a:ext>
                </a:extLst>
              </p:cNvPr>
              <p:cNvSpPr/>
              <p:nvPr/>
            </p:nvSpPr>
            <p:spPr>
              <a:xfrm>
                <a:off x="5834150" y="3881721"/>
                <a:ext cx="2321405" cy="804812"/>
              </a:xfrm>
              <a:prstGeom prst="rect">
                <a:avLst/>
              </a:prstGeom>
              <a:solidFill>
                <a:schemeClr val="accent2">
                  <a:lumMod val="75000"/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hteck 30">
                <a:extLst>
                  <a:ext uri="{FF2B5EF4-FFF2-40B4-BE49-F238E27FC236}">
                    <a16:creationId xmlns:a16="http://schemas.microsoft.com/office/drawing/2014/main" id="{1D46D97A-6741-7C1F-FDC7-0BC4E0B0E194}"/>
                  </a:ext>
                </a:extLst>
              </p:cNvPr>
              <p:cNvSpPr/>
              <p:nvPr/>
            </p:nvSpPr>
            <p:spPr>
              <a:xfrm>
                <a:off x="5903979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/>
                  <a:t>S</a:t>
                </a:r>
                <a:endParaRPr lang="de-DE" sz="1200" b="1" dirty="0"/>
              </a:p>
            </p:txBody>
          </p:sp>
          <p:sp>
            <p:nvSpPr>
              <p:cNvPr id="36" name="Rechteck 31">
                <a:extLst>
                  <a:ext uri="{FF2B5EF4-FFF2-40B4-BE49-F238E27FC236}">
                    <a16:creationId xmlns:a16="http://schemas.microsoft.com/office/drawing/2014/main" id="{4CEDF81A-82FF-7AA6-78CD-A2EF9CBD317C}"/>
                  </a:ext>
                </a:extLst>
              </p:cNvPr>
              <p:cNvSpPr/>
              <p:nvPr/>
            </p:nvSpPr>
            <p:spPr>
              <a:xfrm>
                <a:off x="7097141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/>
                  <a:t>D</a:t>
                </a:r>
                <a:endParaRPr lang="de-DE" sz="1200" b="1" dirty="0"/>
              </a:p>
            </p:txBody>
          </p:sp>
          <p:sp>
            <p:nvSpPr>
              <p:cNvPr id="37" name="Rechteck 32">
                <a:extLst>
                  <a:ext uri="{FF2B5EF4-FFF2-40B4-BE49-F238E27FC236}">
                    <a16:creationId xmlns:a16="http://schemas.microsoft.com/office/drawing/2014/main" id="{F8601D1E-F70F-E45A-DB3A-2E598E9F22FF}"/>
                  </a:ext>
                </a:extLst>
              </p:cNvPr>
              <p:cNvSpPr/>
              <p:nvPr/>
            </p:nvSpPr>
            <p:spPr>
              <a:xfrm>
                <a:off x="6500560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/>
                  <a:t>G</a:t>
                </a:r>
                <a:endParaRPr lang="de-DE" sz="1200" b="1" dirty="0"/>
              </a:p>
            </p:txBody>
          </p:sp>
          <p:cxnSp>
            <p:nvCxnSpPr>
              <p:cNvPr id="38" name="Gerade Verbindung mit Pfeil 35">
                <a:extLst>
                  <a:ext uri="{FF2B5EF4-FFF2-40B4-BE49-F238E27FC236}">
                    <a16:creationId xmlns:a16="http://schemas.microsoft.com/office/drawing/2014/main" id="{BA46F8A4-7414-6DBB-3BAD-4F3892633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8952" y="4624085"/>
                <a:ext cx="418329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 Verbindung mit Pfeil 36">
                <a:extLst>
                  <a:ext uri="{FF2B5EF4-FFF2-40B4-BE49-F238E27FC236}">
                    <a16:creationId xmlns:a16="http://schemas.microsoft.com/office/drawing/2014/main" id="{C2FBB669-8970-632F-758F-F9C8130673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8952" y="4050362"/>
                <a:ext cx="0" cy="573723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hteck 42">
                <a:extLst>
                  <a:ext uri="{FF2B5EF4-FFF2-40B4-BE49-F238E27FC236}">
                    <a16:creationId xmlns:a16="http://schemas.microsoft.com/office/drawing/2014/main" id="{247E7303-2BAA-4A86-3D0C-AE7EEBBAF23B}"/>
                  </a:ext>
                </a:extLst>
              </p:cNvPr>
              <p:cNvSpPr/>
              <p:nvPr/>
            </p:nvSpPr>
            <p:spPr>
              <a:xfrm>
                <a:off x="6395998" y="4178435"/>
                <a:ext cx="485509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>
                    <a:solidFill>
                      <a:schemeClr val="bg1"/>
                    </a:solidFill>
                  </a:rPr>
                  <a:t>W</a:t>
                </a:r>
                <a:r>
                  <a:rPr lang="de-DE" sz="1200" b="1" baseline="-25000">
                    <a:solidFill>
                      <a:schemeClr val="bg1"/>
                    </a:solidFill>
                  </a:rPr>
                  <a:t>ch</a:t>
                </a:r>
                <a:endParaRPr lang="de-DE" sz="1200" b="1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Rechteck 43">
                <a:extLst>
                  <a:ext uri="{FF2B5EF4-FFF2-40B4-BE49-F238E27FC236}">
                    <a16:creationId xmlns:a16="http://schemas.microsoft.com/office/drawing/2014/main" id="{49EE88E1-96FB-A0A8-DA57-135677216A5E}"/>
                  </a:ext>
                </a:extLst>
              </p:cNvPr>
              <p:cNvSpPr/>
              <p:nvPr/>
            </p:nvSpPr>
            <p:spPr>
              <a:xfrm>
                <a:off x="6454353" y="4405155"/>
                <a:ext cx="427722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>
                    <a:solidFill>
                      <a:schemeClr val="bg1"/>
                    </a:solidFill>
                  </a:rPr>
                  <a:t>L</a:t>
                </a:r>
                <a:r>
                  <a:rPr lang="de-DE" sz="1200" b="1" baseline="-25000">
                    <a:solidFill>
                      <a:schemeClr val="bg1"/>
                    </a:solidFill>
                  </a:rPr>
                  <a:t>ch</a:t>
                </a:r>
                <a:endParaRPr lang="de-DE" sz="1200" b="1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Rechteck 11">
                <a:extLst>
                  <a:ext uri="{FF2B5EF4-FFF2-40B4-BE49-F238E27FC236}">
                    <a16:creationId xmlns:a16="http://schemas.microsoft.com/office/drawing/2014/main" id="{51391EED-BB23-EB34-4826-64019AEBC149}"/>
                  </a:ext>
                </a:extLst>
              </p:cNvPr>
              <p:cNvSpPr/>
              <p:nvPr/>
            </p:nvSpPr>
            <p:spPr>
              <a:xfrm>
                <a:off x="7616251" y="3995994"/>
                <a:ext cx="427045" cy="406611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 b="1"/>
              </a:p>
            </p:txBody>
          </p:sp>
          <p:grpSp>
            <p:nvGrpSpPr>
              <p:cNvPr id="43" name="Gruppieren 14">
                <a:extLst>
                  <a:ext uri="{FF2B5EF4-FFF2-40B4-BE49-F238E27FC236}">
                    <a16:creationId xmlns:a16="http://schemas.microsoft.com/office/drawing/2014/main" id="{A0CED0BF-DB76-6AF1-F6EE-A41C3E6716ED}"/>
                  </a:ext>
                </a:extLst>
              </p:cNvPr>
              <p:cNvGrpSpPr/>
              <p:nvPr/>
            </p:nvGrpSpPr>
            <p:grpSpPr>
              <a:xfrm>
                <a:off x="7673472" y="3551524"/>
                <a:ext cx="312603" cy="1473643"/>
                <a:chOff x="5538925" y="3230425"/>
                <a:chExt cx="527050" cy="2294075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44" name="Rechteck: obere Ecken abgeschnitten 7">
                  <a:extLst>
                    <a:ext uri="{FF2B5EF4-FFF2-40B4-BE49-F238E27FC236}">
                      <a16:creationId xmlns:a16="http://schemas.microsoft.com/office/drawing/2014/main" id="{016E983A-FF2B-3147-1641-4338F613111A}"/>
                    </a:ext>
                  </a:extLst>
                </p:cNvPr>
                <p:cNvSpPr/>
                <p:nvPr/>
              </p:nvSpPr>
              <p:spPr>
                <a:xfrm>
                  <a:off x="5538925" y="5041900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 b="1"/>
                </a:p>
              </p:txBody>
            </p:sp>
            <p:sp>
              <p:nvSpPr>
                <p:cNvPr id="45" name="Rechteck 9">
                  <a:extLst>
                    <a:ext uri="{FF2B5EF4-FFF2-40B4-BE49-F238E27FC236}">
                      <a16:creationId xmlns:a16="http://schemas.microsoft.com/office/drawing/2014/main" id="{CD78D780-9D42-A2B0-B082-21570DF67FEA}"/>
                    </a:ext>
                  </a:extLst>
                </p:cNvPr>
                <p:cNvSpPr/>
                <p:nvPr/>
              </p:nvSpPr>
              <p:spPr>
                <a:xfrm>
                  <a:off x="5757275" y="3713025"/>
                  <a:ext cx="90350" cy="1328875"/>
                </a:xfrm>
                <a:prstGeom prst="rect">
                  <a:avLst/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 b="1"/>
                </a:p>
              </p:txBody>
            </p:sp>
            <p:sp>
              <p:nvSpPr>
                <p:cNvPr id="46" name="Rechteck: obere Ecken abgeschnitten 13">
                  <a:extLst>
                    <a:ext uri="{FF2B5EF4-FFF2-40B4-BE49-F238E27FC236}">
                      <a16:creationId xmlns:a16="http://schemas.microsoft.com/office/drawing/2014/main" id="{063296FA-B208-3033-2013-6EB2FA6D3E43}"/>
                    </a:ext>
                  </a:extLst>
                </p:cNvPr>
                <p:cNvSpPr/>
                <p:nvPr/>
              </p:nvSpPr>
              <p:spPr>
                <a:xfrm rot="10800000">
                  <a:off x="5538925" y="3230425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 b="1"/>
                </a:p>
              </p:txBody>
            </p: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E18071F-710E-3435-F1DA-4D68BED9F0FC}"/>
                  </a:ext>
                </a:extLst>
              </p:cNvPr>
              <p:cNvSpPr txBox="1"/>
              <p:nvPr/>
            </p:nvSpPr>
            <p:spPr>
              <a:xfrm>
                <a:off x="6995769" y="5245196"/>
                <a:ext cx="666714" cy="401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(b)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48A1015-3E20-520E-CE82-11F7B919AC3C}"/>
                  </a:ext>
                </a:extLst>
              </p:cNvPr>
              <p:cNvSpPr txBox="1"/>
              <p:nvPr/>
            </p:nvSpPr>
            <p:spPr>
              <a:xfrm>
                <a:off x="7651750" y="5023866"/>
                <a:ext cx="666714" cy="301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1" dirty="0"/>
                  <a:t>TE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8F38530-F656-D336-B512-42514C677E70}"/>
                  </a:ext>
                </a:extLst>
              </p:cNvPr>
              <p:cNvSpPr txBox="1"/>
              <p:nvPr/>
            </p:nvSpPr>
            <p:spPr>
              <a:xfrm>
                <a:off x="8222357" y="3796462"/>
                <a:ext cx="540525" cy="301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1" dirty="0"/>
                  <a:t>BE</a:t>
                </a:r>
              </a:p>
            </p:txBody>
          </p:sp>
        </p:grpSp>
        <p:sp>
          <p:nvSpPr>
            <p:cNvPr id="71" name="Rechteck 15">
              <a:extLst>
                <a:ext uri="{FF2B5EF4-FFF2-40B4-BE49-F238E27FC236}">
                  <a16:creationId xmlns:a16="http://schemas.microsoft.com/office/drawing/2014/main" id="{DDA416F1-95FC-4570-FCA3-24E23810FC08}"/>
                </a:ext>
              </a:extLst>
            </p:cNvPr>
            <p:cNvSpPr/>
            <p:nvPr/>
          </p:nvSpPr>
          <p:spPr>
            <a:xfrm>
              <a:off x="3208383" y="3547416"/>
              <a:ext cx="379317" cy="706304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b="1" dirty="0"/>
            </a:p>
          </p:txBody>
        </p:sp>
        <p:sp>
          <p:nvSpPr>
            <p:cNvPr id="4" name="Rechteck 15">
              <a:extLst>
                <a:ext uri="{FF2B5EF4-FFF2-40B4-BE49-F238E27FC236}">
                  <a16:creationId xmlns:a16="http://schemas.microsoft.com/office/drawing/2014/main" id="{A02AB37B-E8E0-4A54-5851-51419DBE3EE6}"/>
                </a:ext>
              </a:extLst>
            </p:cNvPr>
            <p:cNvSpPr/>
            <p:nvPr/>
          </p:nvSpPr>
          <p:spPr>
            <a:xfrm>
              <a:off x="3563406" y="3483687"/>
              <a:ext cx="146839" cy="760760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/>
            </a:p>
          </p:txBody>
        </p:sp>
        <p:sp>
          <p:nvSpPr>
            <p:cNvPr id="76" name="Rechteck 15">
              <a:extLst>
                <a:ext uri="{FF2B5EF4-FFF2-40B4-BE49-F238E27FC236}">
                  <a16:creationId xmlns:a16="http://schemas.microsoft.com/office/drawing/2014/main" id="{70352CC0-7BA9-C248-AEBE-D7526D47CA37}"/>
                </a:ext>
              </a:extLst>
            </p:cNvPr>
            <p:cNvSpPr/>
            <p:nvPr/>
          </p:nvSpPr>
          <p:spPr>
            <a:xfrm>
              <a:off x="1249855" y="3536309"/>
              <a:ext cx="137585" cy="814733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/>
            </a:p>
          </p:txBody>
        </p:sp>
        <p:sp>
          <p:nvSpPr>
            <p:cNvPr id="3" name="Rechteck 15">
              <a:extLst>
                <a:ext uri="{FF2B5EF4-FFF2-40B4-BE49-F238E27FC236}">
                  <a16:creationId xmlns:a16="http://schemas.microsoft.com/office/drawing/2014/main" id="{4388D54E-F5E4-6F46-8A79-6D78B7191346}"/>
                </a:ext>
              </a:extLst>
            </p:cNvPr>
            <p:cNvSpPr/>
            <p:nvPr/>
          </p:nvSpPr>
          <p:spPr>
            <a:xfrm>
              <a:off x="1024122" y="4201360"/>
              <a:ext cx="423285" cy="143666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/>
                <a:t>      </a:t>
              </a:r>
              <a:endParaRPr lang="de-DE" sz="700" b="1" dirty="0"/>
            </a:p>
          </p:txBody>
        </p:sp>
        <p:sp>
          <p:nvSpPr>
            <p:cNvPr id="21" name="Rechteck 15">
              <a:extLst>
                <a:ext uri="{FF2B5EF4-FFF2-40B4-BE49-F238E27FC236}">
                  <a16:creationId xmlns:a16="http://schemas.microsoft.com/office/drawing/2014/main" id="{C8008646-E8E8-FE96-B3ED-F2D987FCABB4}"/>
                </a:ext>
              </a:extLst>
            </p:cNvPr>
            <p:cNvSpPr/>
            <p:nvPr/>
          </p:nvSpPr>
          <p:spPr>
            <a:xfrm>
              <a:off x="3481453" y="4232430"/>
              <a:ext cx="2132794" cy="12462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 dirty="0"/>
                <a:t>                                               Ti</a:t>
              </a:r>
            </a:p>
          </p:txBody>
        </p:sp>
        <p:sp>
          <p:nvSpPr>
            <p:cNvPr id="75" name="Rechteck 15">
              <a:extLst>
                <a:ext uri="{FF2B5EF4-FFF2-40B4-BE49-F238E27FC236}">
                  <a16:creationId xmlns:a16="http://schemas.microsoft.com/office/drawing/2014/main" id="{32DB7A28-7E2F-E776-0394-C321F298D81A}"/>
                </a:ext>
              </a:extLst>
            </p:cNvPr>
            <p:cNvSpPr/>
            <p:nvPr/>
          </p:nvSpPr>
          <p:spPr>
            <a:xfrm>
              <a:off x="1366834" y="3551784"/>
              <a:ext cx="276867" cy="807145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b="1" dirty="0"/>
            </a:p>
          </p:txBody>
        </p:sp>
        <p:sp>
          <p:nvSpPr>
            <p:cNvPr id="57" name="Rechteck 8">
              <a:extLst>
                <a:ext uri="{FF2B5EF4-FFF2-40B4-BE49-F238E27FC236}">
                  <a16:creationId xmlns:a16="http://schemas.microsoft.com/office/drawing/2014/main" id="{549B846E-F72D-C131-0DBC-70D86E2A84D9}"/>
                </a:ext>
              </a:extLst>
            </p:cNvPr>
            <p:cNvSpPr/>
            <p:nvPr/>
          </p:nvSpPr>
          <p:spPr>
            <a:xfrm>
              <a:off x="1454693" y="3855640"/>
              <a:ext cx="214821" cy="50003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6" name="Rechteck 8">
              <a:extLst>
                <a:ext uri="{FF2B5EF4-FFF2-40B4-BE49-F238E27FC236}">
                  <a16:creationId xmlns:a16="http://schemas.microsoft.com/office/drawing/2014/main" id="{A2BFFC6F-F7DC-8F74-4CE2-756780F76193}"/>
                </a:ext>
              </a:extLst>
            </p:cNvPr>
            <p:cNvSpPr/>
            <p:nvPr/>
          </p:nvSpPr>
          <p:spPr>
            <a:xfrm>
              <a:off x="3286551" y="3857340"/>
              <a:ext cx="201448" cy="51569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hteck 8">
              <a:extLst>
                <a:ext uri="{FF2B5EF4-FFF2-40B4-BE49-F238E27FC236}">
                  <a16:creationId xmlns:a16="http://schemas.microsoft.com/office/drawing/2014/main" id="{607B019C-BA1F-8D7F-350C-F0EA35D1CEEB}"/>
                </a:ext>
              </a:extLst>
            </p:cNvPr>
            <p:cNvSpPr/>
            <p:nvPr/>
          </p:nvSpPr>
          <p:spPr>
            <a:xfrm>
              <a:off x="3244799" y="4352654"/>
              <a:ext cx="2369448" cy="20679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A174642-3376-0F4F-2020-B4FA2899EFB8}"/>
                </a:ext>
              </a:extLst>
            </p:cNvPr>
            <p:cNvSpPr/>
            <p:nvPr/>
          </p:nvSpPr>
          <p:spPr>
            <a:xfrm>
              <a:off x="1249855" y="3243775"/>
              <a:ext cx="520589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/>
                <a:t>Pt</a:t>
              </a:r>
              <a:endParaRPr lang="de-DE" sz="1400" b="1" dirty="0"/>
            </a:p>
          </p:txBody>
        </p:sp>
        <p:sp>
          <p:nvSpPr>
            <p:cNvPr id="8" name="Rechteck 8">
              <a:extLst>
                <a:ext uri="{FF2B5EF4-FFF2-40B4-BE49-F238E27FC236}">
                  <a16:creationId xmlns:a16="http://schemas.microsoft.com/office/drawing/2014/main" id="{5B3672BE-E72B-6513-ED3C-C19329D08F6F}"/>
                </a:ext>
              </a:extLst>
            </p:cNvPr>
            <p:cNvSpPr/>
            <p:nvPr/>
          </p:nvSpPr>
          <p:spPr>
            <a:xfrm>
              <a:off x="1024123" y="4340234"/>
              <a:ext cx="675169" cy="2206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D50F9D7-489F-9DF6-B239-31801D67166A}"/>
                </a:ext>
              </a:extLst>
            </p:cNvPr>
            <p:cNvSpPr/>
            <p:nvPr/>
          </p:nvSpPr>
          <p:spPr>
            <a:xfrm>
              <a:off x="1455656" y="3851006"/>
              <a:ext cx="2032343" cy="21287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Al₂O₃</a:t>
              </a:r>
            </a:p>
          </p:txBody>
        </p:sp>
        <p:sp>
          <p:nvSpPr>
            <p:cNvPr id="11" name="Rechteck 12">
              <a:extLst>
                <a:ext uri="{FF2B5EF4-FFF2-40B4-BE49-F238E27FC236}">
                  <a16:creationId xmlns:a16="http://schemas.microsoft.com/office/drawing/2014/main" id="{9576187D-52EB-B048-AA61-2B99D7994082}"/>
                </a:ext>
              </a:extLst>
            </p:cNvPr>
            <p:cNvSpPr/>
            <p:nvPr/>
          </p:nvSpPr>
          <p:spPr>
            <a:xfrm>
              <a:off x="1455657" y="3645974"/>
              <a:ext cx="2032342" cy="206795"/>
            </a:xfrm>
            <a:prstGeom prst="rect">
              <a:avLst/>
            </a:prstGeom>
            <a:solidFill>
              <a:srgbClr val="F2D9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>
                  <a:solidFill>
                    <a:schemeClr val="bg1"/>
                  </a:solidFill>
                </a:rPr>
                <a:t>IGZO</a:t>
              </a:r>
            </a:p>
          </p:txBody>
        </p:sp>
        <p:sp>
          <p:nvSpPr>
            <p:cNvPr id="13" name="Rechteck 15">
              <a:extLst>
                <a:ext uri="{FF2B5EF4-FFF2-40B4-BE49-F238E27FC236}">
                  <a16:creationId xmlns:a16="http://schemas.microsoft.com/office/drawing/2014/main" id="{95F9442A-71A6-DB9C-6B89-217907B2696D}"/>
                </a:ext>
              </a:extLst>
            </p:cNvPr>
            <p:cNvSpPr/>
            <p:nvPr/>
          </p:nvSpPr>
          <p:spPr>
            <a:xfrm>
              <a:off x="1663818" y="4059563"/>
              <a:ext cx="1624579" cy="407076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/>
                <a:t>Pt</a:t>
              </a:r>
              <a:endParaRPr lang="de-DE" sz="1400" b="1" dirty="0"/>
            </a:p>
          </p:txBody>
        </p:sp>
        <p:sp>
          <p:nvSpPr>
            <p:cNvPr id="15" name="Rechteck 15">
              <a:extLst>
                <a:ext uri="{FF2B5EF4-FFF2-40B4-BE49-F238E27FC236}">
                  <a16:creationId xmlns:a16="http://schemas.microsoft.com/office/drawing/2014/main" id="{68395341-339B-3046-C5C3-9E281BEF5B2D}"/>
                </a:ext>
              </a:extLst>
            </p:cNvPr>
            <p:cNvSpPr/>
            <p:nvPr/>
          </p:nvSpPr>
          <p:spPr>
            <a:xfrm>
              <a:off x="1663818" y="4462627"/>
              <a:ext cx="1624579" cy="103397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/>
                <a:t>Ti</a:t>
              </a:r>
              <a:endParaRPr lang="de-DE" sz="700" b="1" dirty="0"/>
            </a:p>
          </p:txBody>
        </p:sp>
        <p:sp>
          <p:nvSpPr>
            <p:cNvPr id="18" name="Rechteck 15">
              <a:extLst>
                <a:ext uri="{FF2B5EF4-FFF2-40B4-BE49-F238E27FC236}">
                  <a16:creationId xmlns:a16="http://schemas.microsoft.com/office/drawing/2014/main" id="{3B32623B-D80A-A4A4-CCD3-3311DD9A778E}"/>
                </a:ext>
              </a:extLst>
            </p:cNvPr>
            <p:cNvSpPr/>
            <p:nvPr/>
          </p:nvSpPr>
          <p:spPr>
            <a:xfrm>
              <a:off x="3176077" y="3248983"/>
              <a:ext cx="534169" cy="316616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/>
                <a:t>Pt</a:t>
              </a:r>
              <a:endParaRPr lang="de-DE" sz="1400" b="1" dirty="0"/>
            </a:p>
          </p:txBody>
        </p:sp>
        <p:sp>
          <p:nvSpPr>
            <p:cNvPr id="17" name="Rechteck 15">
              <a:extLst>
                <a:ext uri="{FF2B5EF4-FFF2-40B4-BE49-F238E27FC236}">
                  <a16:creationId xmlns:a16="http://schemas.microsoft.com/office/drawing/2014/main" id="{154D7AFB-6235-486A-FDFC-A755F50610E8}"/>
                </a:ext>
              </a:extLst>
            </p:cNvPr>
            <p:cNvSpPr/>
            <p:nvPr/>
          </p:nvSpPr>
          <p:spPr>
            <a:xfrm>
              <a:off x="1391128" y="3551784"/>
              <a:ext cx="379316" cy="9867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/>
                <a:t> Ti</a:t>
              </a:r>
              <a:endParaRPr lang="de-DE" sz="700" b="1" dirty="0"/>
            </a:p>
          </p:txBody>
        </p:sp>
        <p:sp>
          <p:nvSpPr>
            <p:cNvPr id="73" name="Rechteck 15">
              <a:extLst>
                <a:ext uri="{FF2B5EF4-FFF2-40B4-BE49-F238E27FC236}">
                  <a16:creationId xmlns:a16="http://schemas.microsoft.com/office/drawing/2014/main" id="{DE829E34-4CC5-C046-81C4-D6D46E0FB978}"/>
                </a:ext>
              </a:extLst>
            </p:cNvPr>
            <p:cNvSpPr/>
            <p:nvPr/>
          </p:nvSpPr>
          <p:spPr>
            <a:xfrm>
              <a:off x="4652441" y="3312126"/>
              <a:ext cx="942087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Pt</a:t>
              </a:r>
            </a:p>
          </p:txBody>
        </p:sp>
        <p:sp>
          <p:nvSpPr>
            <p:cNvPr id="74" name="Rechteck 15">
              <a:extLst>
                <a:ext uri="{FF2B5EF4-FFF2-40B4-BE49-F238E27FC236}">
                  <a16:creationId xmlns:a16="http://schemas.microsoft.com/office/drawing/2014/main" id="{FA6A777F-A677-0540-1610-1D425257F67B}"/>
                </a:ext>
              </a:extLst>
            </p:cNvPr>
            <p:cNvSpPr/>
            <p:nvPr/>
          </p:nvSpPr>
          <p:spPr>
            <a:xfrm>
              <a:off x="4652865" y="3617876"/>
              <a:ext cx="942088" cy="103397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 dirty="0"/>
                <a:t>Ti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598200-49C9-5C34-214C-4BE9E52F13F4}"/>
                </a:ext>
              </a:extLst>
            </p:cNvPr>
            <p:cNvSpPr txBox="1"/>
            <p:nvPr/>
          </p:nvSpPr>
          <p:spPr>
            <a:xfrm>
              <a:off x="3318517" y="5151053"/>
              <a:ext cx="5235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(a)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FF3366-B47D-16AB-DEA0-A5486B4ED4F6}"/>
                </a:ext>
              </a:extLst>
            </p:cNvPr>
            <p:cNvSpPr txBox="1"/>
            <p:nvPr/>
          </p:nvSpPr>
          <p:spPr>
            <a:xfrm>
              <a:off x="1343312" y="2851572"/>
              <a:ext cx="3440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570E73-FB38-2BAC-F5B7-59E11F6CC245}"/>
                </a:ext>
              </a:extLst>
            </p:cNvPr>
            <p:cNvSpPr txBox="1"/>
            <p:nvPr/>
          </p:nvSpPr>
          <p:spPr>
            <a:xfrm>
              <a:off x="3264335" y="2853242"/>
              <a:ext cx="3440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BC7E56-0474-B6A5-F951-E61C9F3C48BC}"/>
                </a:ext>
              </a:extLst>
            </p:cNvPr>
            <p:cNvSpPr txBox="1"/>
            <p:nvPr/>
          </p:nvSpPr>
          <p:spPr>
            <a:xfrm>
              <a:off x="4861431" y="2952940"/>
              <a:ext cx="5088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TE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A510DEB-401A-78FE-FC39-0347EF14415C}"/>
                </a:ext>
              </a:extLst>
            </p:cNvPr>
            <p:cNvSpPr txBox="1"/>
            <p:nvPr/>
          </p:nvSpPr>
          <p:spPr>
            <a:xfrm>
              <a:off x="5599402" y="3644808"/>
              <a:ext cx="7166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BE</a:t>
              </a:r>
            </a:p>
          </p:txBody>
        </p:sp>
        <p:sp>
          <p:nvSpPr>
            <p:cNvPr id="67" name="Rechteck 15">
              <a:extLst>
                <a:ext uri="{FF2B5EF4-FFF2-40B4-BE49-F238E27FC236}">
                  <a16:creationId xmlns:a16="http://schemas.microsoft.com/office/drawing/2014/main" id="{6264FFBF-552D-4CA2-E141-A3135C4D7EFF}"/>
                </a:ext>
              </a:extLst>
            </p:cNvPr>
            <p:cNvSpPr/>
            <p:nvPr/>
          </p:nvSpPr>
          <p:spPr>
            <a:xfrm>
              <a:off x="3176076" y="3547416"/>
              <a:ext cx="387330" cy="9867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/>
                <a:t> Ti</a:t>
              </a:r>
              <a:endParaRPr lang="de-DE" sz="700" b="1" dirty="0"/>
            </a:p>
          </p:txBody>
        </p:sp>
        <p:sp>
          <p:nvSpPr>
            <p:cNvPr id="5" name="Rechteck 15">
              <a:extLst>
                <a:ext uri="{FF2B5EF4-FFF2-40B4-BE49-F238E27FC236}">
                  <a16:creationId xmlns:a16="http://schemas.microsoft.com/office/drawing/2014/main" id="{A70B43E6-AC93-858F-D441-81F79A24ECAB}"/>
                </a:ext>
              </a:extLst>
            </p:cNvPr>
            <p:cNvSpPr/>
            <p:nvPr/>
          </p:nvSpPr>
          <p:spPr>
            <a:xfrm>
              <a:off x="1023371" y="3896488"/>
              <a:ext cx="345469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/>
            </a:p>
          </p:txBody>
        </p:sp>
        <p:sp>
          <p:nvSpPr>
            <p:cNvPr id="6" name="Rechteck 3">
              <a:extLst>
                <a:ext uri="{FF2B5EF4-FFF2-40B4-BE49-F238E27FC236}">
                  <a16:creationId xmlns:a16="http://schemas.microsoft.com/office/drawing/2014/main" id="{69B44FD1-99C5-1411-3B38-73A7EF8AD3FF}"/>
                </a:ext>
              </a:extLst>
            </p:cNvPr>
            <p:cNvSpPr/>
            <p:nvPr/>
          </p:nvSpPr>
          <p:spPr>
            <a:xfrm>
              <a:off x="1024122" y="4560658"/>
              <a:ext cx="4590125" cy="6259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Si/SiO</a:t>
              </a:r>
              <a:r>
                <a:rPr lang="de-DE" b="1" baseline="-25000" dirty="0">
                  <a:solidFill>
                    <a:schemeClr val="tx1"/>
                  </a:solidFill>
                </a:rPr>
                <a:t>2</a:t>
              </a:r>
              <a:r>
                <a:rPr lang="de-DE" b="1" dirty="0">
                  <a:solidFill>
                    <a:schemeClr val="tx1"/>
                  </a:solidFill>
                </a:rPr>
                <a:t> substrate</a:t>
              </a:r>
            </a:p>
          </p:txBody>
        </p:sp>
        <p:sp>
          <p:nvSpPr>
            <p:cNvPr id="7" name="Rechteck 20">
              <a:extLst>
                <a:ext uri="{FF2B5EF4-FFF2-40B4-BE49-F238E27FC236}">
                  <a16:creationId xmlns:a16="http://schemas.microsoft.com/office/drawing/2014/main" id="{4DC242E6-4240-E0E3-CB18-A061DE5A2D33}"/>
                </a:ext>
              </a:extLst>
            </p:cNvPr>
            <p:cNvSpPr/>
            <p:nvPr/>
          </p:nvSpPr>
          <p:spPr>
            <a:xfrm>
              <a:off x="1024122" y="4559281"/>
              <a:ext cx="4590125" cy="6724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69" name="Rechteck 15">
              <a:extLst>
                <a:ext uri="{FF2B5EF4-FFF2-40B4-BE49-F238E27FC236}">
                  <a16:creationId xmlns:a16="http://schemas.microsoft.com/office/drawing/2014/main" id="{705214E1-0EFB-18C4-EE4B-49DD89145116}"/>
                </a:ext>
              </a:extLst>
            </p:cNvPr>
            <p:cNvSpPr/>
            <p:nvPr/>
          </p:nvSpPr>
          <p:spPr>
            <a:xfrm>
              <a:off x="4126952" y="3828131"/>
              <a:ext cx="209083" cy="9867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b="1" dirty="0"/>
            </a:p>
          </p:txBody>
        </p:sp>
        <p:sp>
          <p:nvSpPr>
            <p:cNvPr id="72" name="Text 0">
              <a:extLst>
                <a:ext uri="{FF2B5EF4-FFF2-40B4-BE49-F238E27FC236}">
                  <a16:creationId xmlns:a16="http://schemas.microsoft.com/office/drawing/2014/main" id="{8472FF93-D461-65B1-DA3A-68EDF981CB50}"/>
                </a:ext>
              </a:extLst>
            </p:cNvPr>
            <p:cNvSpPr/>
            <p:nvPr/>
          </p:nvSpPr>
          <p:spPr>
            <a:xfrm>
              <a:off x="1185134" y="1296169"/>
              <a:ext cx="4036989" cy="1521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200" dirty="0"/>
            </a:p>
          </p:txBody>
        </p:sp>
        <p:sp>
          <p:nvSpPr>
            <p:cNvPr id="77" name="Shape 4">
              <a:extLst>
                <a:ext uri="{FF2B5EF4-FFF2-40B4-BE49-F238E27FC236}">
                  <a16:creationId xmlns:a16="http://schemas.microsoft.com/office/drawing/2014/main" id="{9C27F150-E973-4889-7728-D52AED587F30}"/>
                </a:ext>
              </a:extLst>
            </p:cNvPr>
            <p:cNvSpPr/>
            <p:nvPr/>
          </p:nvSpPr>
          <p:spPr>
            <a:xfrm flipH="1">
              <a:off x="2501936" y="1745613"/>
              <a:ext cx="1257" cy="470336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78" name="Shape 6">
              <a:extLst>
                <a:ext uri="{FF2B5EF4-FFF2-40B4-BE49-F238E27FC236}">
                  <a16:creationId xmlns:a16="http://schemas.microsoft.com/office/drawing/2014/main" id="{201B3106-5827-4DB5-38BE-3DE30C9D9A99}"/>
                </a:ext>
              </a:extLst>
            </p:cNvPr>
            <p:cNvSpPr/>
            <p:nvPr/>
          </p:nvSpPr>
          <p:spPr>
            <a:xfrm>
              <a:off x="2113341" y="2206135"/>
              <a:ext cx="760851" cy="981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79" name="Text 8">
              <a:extLst>
                <a:ext uri="{FF2B5EF4-FFF2-40B4-BE49-F238E27FC236}">
                  <a16:creationId xmlns:a16="http://schemas.microsoft.com/office/drawing/2014/main" id="{DF884F49-E663-1256-CF43-C5A5FD5A1B4E}"/>
                </a:ext>
              </a:extLst>
            </p:cNvPr>
            <p:cNvSpPr/>
            <p:nvPr/>
          </p:nvSpPr>
          <p:spPr>
            <a:xfrm>
              <a:off x="2436663" y="1443883"/>
              <a:ext cx="502582" cy="1156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G</a:t>
              </a:r>
              <a:endParaRPr lang="en-US" dirty="0"/>
            </a:p>
          </p:txBody>
        </p:sp>
        <p:sp>
          <p:nvSpPr>
            <p:cNvPr id="80" name="Shape 9">
              <a:extLst>
                <a:ext uri="{FF2B5EF4-FFF2-40B4-BE49-F238E27FC236}">
                  <a16:creationId xmlns:a16="http://schemas.microsoft.com/office/drawing/2014/main" id="{5B610BAE-E1E9-77ED-2899-BC37FBDEBE30}"/>
                </a:ext>
              </a:extLst>
            </p:cNvPr>
            <p:cNvSpPr/>
            <p:nvPr/>
          </p:nvSpPr>
          <p:spPr>
            <a:xfrm>
              <a:off x="2113341" y="2328210"/>
              <a:ext cx="757385" cy="704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Text 10">
              <a:extLst>
                <a:ext uri="{FF2B5EF4-FFF2-40B4-BE49-F238E27FC236}">
                  <a16:creationId xmlns:a16="http://schemas.microsoft.com/office/drawing/2014/main" id="{B0969B2A-BA67-5B9C-71BE-CA361B126DBB}"/>
                </a:ext>
              </a:extLst>
            </p:cNvPr>
            <p:cNvSpPr/>
            <p:nvPr/>
          </p:nvSpPr>
          <p:spPr>
            <a:xfrm>
              <a:off x="1203111" y="2231117"/>
              <a:ext cx="773929" cy="1218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</a:t>
              </a:r>
              <a:endParaRPr lang="en-US" dirty="0"/>
            </a:p>
          </p:txBody>
        </p:sp>
        <p:sp>
          <p:nvSpPr>
            <p:cNvPr id="82" name="Text 11">
              <a:extLst>
                <a:ext uri="{FF2B5EF4-FFF2-40B4-BE49-F238E27FC236}">
                  <a16:creationId xmlns:a16="http://schemas.microsoft.com/office/drawing/2014/main" id="{D48C80BB-AB69-68C8-89AE-54FEB44FFF30}"/>
                </a:ext>
              </a:extLst>
            </p:cNvPr>
            <p:cNvSpPr/>
            <p:nvPr/>
          </p:nvSpPr>
          <p:spPr>
            <a:xfrm>
              <a:off x="3009468" y="2215949"/>
              <a:ext cx="757384" cy="1403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endParaRPr lang="en-US" dirty="0"/>
            </a:p>
          </p:txBody>
        </p:sp>
        <p:sp>
          <p:nvSpPr>
            <p:cNvPr id="83" name="Shape 12">
              <a:extLst>
                <a:ext uri="{FF2B5EF4-FFF2-40B4-BE49-F238E27FC236}">
                  <a16:creationId xmlns:a16="http://schemas.microsoft.com/office/drawing/2014/main" id="{7328E237-3AF6-865D-A14C-5D3AE2083D76}"/>
                </a:ext>
              </a:extLst>
            </p:cNvPr>
            <p:cNvSpPr/>
            <p:nvPr/>
          </p:nvSpPr>
          <p:spPr>
            <a:xfrm flipH="1">
              <a:off x="2126962" y="2302869"/>
              <a:ext cx="3466" cy="388093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84" name="Shape 13">
              <a:extLst>
                <a:ext uri="{FF2B5EF4-FFF2-40B4-BE49-F238E27FC236}">
                  <a16:creationId xmlns:a16="http://schemas.microsoft.com/office/drawing/2014/main" id="{584A4E44-4F99-C89A-282C-0060A9370824}"/>
                </a:ext>
              </a:extLst>
            </p:cNvPr>
            <p:cNvSpPr/>
            <p:nvPr/>
          </p:nvSpPr>
          <p:spPr>
            <a:xfrm>
              <a:off x="1177274" y="2672964"/>
              <a:ext cx="953153" cy="385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85" name="Shape 14">
              <a:extLst>
                <a:ext uri="{FF2B5EF4-FFF2-40B4-BE49-F238E27FC236}">
                  <a16:creationId xmlns:a16="http://schemas.microsoft.com/office/drawing/2014/main" id="{C3EB336C-BA10-AF15-7A32-C6B037331068}"/>
                </a:ext>
              </a:extLst>
            </p:cNvPr>
            <p:cNvSpPr/>
            <p:nvPr/>
          </p:nvSpPr>
          <p:spPr>
            <a:xfrm>
              <a:off x="1166640" y="2503421"/>
              <a:ext cx="0" cy="323412"/>
            </a:xfrm>
            <a:prstGeom prst="line">
              <a:avLst/>
            </a:prstGeom>
            <a:noFill/>
            <a:ln w="69850">
              <a:solidFill>
                <a:srgbClr val="000000"/>
              </a:solidFill>
              <a:prstDash val="solid"/>
            </a:ln>
          </p:spPr>
        </p:sp>
        <p:sp>
          <p:nvSpPr>
            <p:cNvPr id="86" name="Shape 15">
              <a:extLst>
                <a:ext uri="{FF2B5EF4-FFF2-40B4-BE49-F238E27FC236}">
                  <a16:creationId xmlns:a16="http://schemas.microsoft.com/office/drawing/2014/main" id="{D4AB35ED-D7F6-1354-33AF-AD7A8E7338C5}"/>
                </a:ext>
              </a:extLst>
            </p:cNvPr>
            <p:cNvSpPr/>
            <p:nvPr/>
          </p:nvSpPr>
          <p:spPr>
            <a:xfrm>
              <a:off x="1023371" y="2577843"/>
              <a:ext cx="0" cy="190242"/>
            </a:xfrm>
            <a:prstGeom prst="line">
              <a:avLst/>
            </a:prstGeom>
            <a:noFill/>
            <a:ln w="69850">
              <a:solidFill>
                <a:srgbClr val="000000"/>
              </a:solidFill>
              <a:prstDash val="solid"/>
            </a:ln>
          </p:spPr>
        </p:sp>
        <p:sp>
          <p:nvSpPr>
            <p:cNvPr id="87" name="Shape 17">
              <a:extLst>
                <a:ext uri="{FF2B5EF4-FFF2-40B4-BE49-F238E27FC236}">
                  <a16:creationId xmlns:a16="http://schemas.microsoft.com/office/drawing/2014/main" id="{7F892A28-9C41-C096-8184-47F50FC42C1E}"/>
                </a:ext>
              </a:extLst>
            </p:cNvPr>
            <p:cNvSpPr/>
            <p:nvPr/>
          </p:nvSpPr>
          <p:spPr>
            <a:xfrm>
              <a:off x="2853402" y="2317062"/>
              <a:ext cx="1" cy="352393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88" name="Shape 18">
              <a:extLst>
                <a:ext uri="{FF2B5EF4-FFF2-40B4-BE49-F238E27FC236}">
                  <a16:creationId xmlns:a16="http://schemas.microsoft.com/office/drawing/2014/main" id="{7E992746-E6F1-4DDE-526C-05BC3810AE7F}"/>
                </a:ext>
              </a:extLst>
            </p:cNvPr>
            <p:cNvSpPr/>
            <p:nvPr/>
          </p:nvSpPr>
          <p:spPr>
            <a:xfrm>
              <a:off x="2838458" y="2678967"/>
              <a:ext cx="2250039" cy="807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89" name="Shape 20">
              <a:extLst>
                <a:ext uri="{FF2B5EF4-FFF2-40B4-BE49-F238E27FC236}">
                  <a16:creationId xmlns:a16="http://schemas.microsoft.com/office/drawing/2014/main" id="{A7CE98AA-3213-81E9-E18D-0820A574A406}"/>
                </a:ext>
              </a:extLst>
            </p:cNvPr>
            <p:cNvSpPr/>
            <p:nvPr/>
          </p:nvSpPr>
          <p:spPr>
            <a:xfrm rot="10800000">
              <a:off x="4784967" y="1494241"/>
              <a:ext cx="645918" cy="874601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90" name="Shape 22">
              <a:extLst>
                <a:ext uri="{FF2B5EF4-FFF2-40B4-BE49-F238E27FC236}">
                  <a16:creationId xmlns:a16="http://schemas.microsoft.com/office/drawing/2014/main" id="{23EE9C0D-F7DE-BA2E-F678-8F1D8F64070F}"/>
                </a:ext>
              </a:extLst>
            </p:cNvPr>
            <p:cNvSpPr/>
            <p:nvPr/>
          </p:nvSpPr>
          <p:spPr>
            <a:xfrm rot="10800000">
              <a:off x="4902142" y="1744034"/>
              <a:ext cx="452143" cy="0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91" name="Shape 23">
              <a:extLst>
                <a:ext uri="{FF2B5EF4-FFF2-40B4-BE49-F238E27FC236}">
                  <a16:creationId xmlns:a16="http://schemas.microsoft.com/office/drawing/2014/main" id="{4F1326A4-8090-9ED9-1B50-4836D19B4CC9}"/>
                </a:ext>
              </a:extLst>
            </p:cNvPr>
            <p:cNvSpPr/>
            <p:nvPr/>
          </p:nvSpPr>
          <p:spPr>
            <a:xfrm rot="10800000" flipV="1">
              <a:off x="4899338" y="2086205"/>
              <a:ext cx="465541" cy="2775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92" name="Shape 24">
              <a:extLst>
                <a:ext uri="{FF2B5EF4-FFF2-40B4-BE49-F238E27FC236}">
                  <a16:creationId xmlns:a16="http://schemas.microsoft.com/office/drawing/2014/main" id="{2E3D5903-6AE6-11A0-D664-448C130390AB}"/>
                </a:ext>
              </a:extLst>
            </p:cNvPr>
            <p:cNvSpPr/>
            <p:nvPr/>
          </p:nvSpPr>
          <p:spPr>
            <a:xfrm rot="10800000" flipV="1">
              <a:off x="5063261" y="2260822"/>
              <a:ext cx="301623" cy="2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95" name="Shape 25">
              <a:extLst>
                <a:ext uri="{FF2B5EF4-FFF2-40B4-BE49-F238E27FC236}">
                  <a16:creationId xmlns:a16="http://schemas.microsoft.com/office/drawing/2014/main" id="{2AEBC75D-8D4E-BE1D-7EF8-5C102E0CDC4E}"/>
                </a:ext>
              </a:extLst>
            </p:cNvPr>
            <p:cNvSpPr/>
            <p:nvPr/>
          </p:nvSpPr>
          <p:spPr>
            <a:xfrm rot="10800000">
              <a:off x="5085040" y="2373463"/>
              <a:ext cx="0" cy="17121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D78086C-FB17-13DA-C062-B634C6CCCE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1569" y="2373463"/>
              <a:ext cx="0" cy="331176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cxnSp>
        <p:sp>
          <p:nvSpPr>
            <p:cNvPr id="97" name="Shape 21">
              <a:extLst>
                <a:ext uri="{FF2B5EF4-FFF2-40B4-BE49-F238E27FC236}">
                  <a16:creationId xmlns:a16="http://schemas.microsoft.com/office/drawing/2014/main" id="{A48CEA29-9DC0-51FB-A0D4-D8FC9A234A61}"/>
                </a:ext>
              </a:extLst>
            </p:cNvPr>
            <p:cNvSpPr/>
            <p:nvPr/>
          </p:nvSpPr>
          <p:spPr>
            <a:xfrm rot="10800000">
              <a:off x="4921850" y="1896161"/>
              <a:ext cx="0" cy="190044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98" name="Shape 23">
              <a:extLst>
                <a:ext uri="{FF2B5EF4-FFF2-40B4-BE49-F238E27FC236}">
                  <a16:creationId xmlns:a16="http://schemas.microsoft.com/office/drawing/2014/main" id="{0CA86460-420E-58FE-97DB-7E799F85FE17}"/>
                </a:ext>
              </a:extLst>
            </p:cNvPr>
            <p:cNvSpPr/>
            <p:nvPr/>
          </p:nvSpPr>
          <p:spPr>
            <a:xfrm rot="10800000">
              <a:off x="4899338" y="1915913"/>
              <a:ext cx="452143" cy="0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99" name="Shape 21">
              <a:extLst>
                <a:ext uri="{FF2B5EF4-FFF2-40B4-BE49-F238E27FC236}">
                  <a16:creationId xmlns:a16="http://schemas.microsoft.com/office/drawing/2014/main" id="{F7D75678-AA2C-9FFA-8C88-8AAA2ED29A72}"/>
                </a:ext>
              </a:extLst>
            </p:cNvPr>
            <p:cNvSpPr/>
            <p:nvPr/>
          </p:nvSpPr>
          <p:spPr>
            <a:xfrm rot="10800000">
              <a:off x="5332424" y="1744034"/>
              <a:ext cx="0" cy="190044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100" name="Shape 21">
              <a:extLst>
                <a:ext uri="{FF2B5EF4-FFF2-40B4-BE49-F238E27FC236}">
                  <a16:creationId xmlns:a16="http://schemas.microsoft.com/office/drawing/2014/main" id="{382C3032-F03C-6FA6-5D40-14B48245F035}"/>
                </a:ext>
              </a:extLst>
            </p:cNvPr>
            <p:cNvSpPr/>
            <p:nvPr/>
          </p:nvSpPr>
          <p:spPr>
            <a:xfrm rot="10800000">
              <a:off x="4921850" y="1605397"/>
              <a:ext cx="1" cy="159803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101" name="Shape 22">
              <a:extLst>
                <a:ext uri="{FF2B5EF4-FFF2-40B4-BE49-F238E27FC236}">
                  <a16:creationId xmlns:a16="http://schemas.microsoft.com/office/drawing/2014/main" id="{1E0B26A8-2BFA-E63A-0F55-B0C6AE2C24C0}"/>
                </a:ext>
              </a:extLst>
            </p:cNvPr>
            <p:cNvSpPr/>
            <p:nvPr/>
          </p:nvSpPr>
          <p:spPr>
            <a:xfrm rot="10800000" flipV="1">
              <a:off x="4897754" y="1614214"/>
              <a:ext cx="255986" cy="100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102" name="Shape 21">
              <a:extLst>
                <a:ext uri="{FF2B5EF4-FFF2-40B4-BE49-F238E27FC236}">
                  <a16:creationId xmlns:a16="http://schemas.microsoft.com/office/drawing/2014/main" id="{9365E216-5913-3576-7CE5-B7E7BFA7F55B}"/>
                </a:ext>
              </a:extLst>
            </p:cNvPr>
            <p:cNvSpPr/>
            <p:nvPr/>
          </p:nvSpPr>
          <p:spPr>
            <a:xfrm rot="10800000">
              <a:off x="5132911" y="1494240"/>
              <a:ext cx="0" cy="139983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103" name="Shape 21">
              <a:extLst>
                <a:ext uri="{FF2B5EF4-FFF2-40B4-BE49-F238E27FC236}">
                  <a16:creationId xmlns:a16="http://schemas.microsoft.com/office/drawing/2014/main" id="{23AB8A16-4214-8896-A44E-C906B2456245}"/>
                </a:ext>
              </a:extLst>
            </p:cNvPr>
            <p:cNvSpPr/>
            <p:nvPr/>
          </p:nvSpPr>
          <p:spPr>
            <a:xfrm rot="10800000">
              <a:off x="5085039" y="2250704"/>
              <a:ext cx="0" cy="121857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104" name="Shape 21">
              <a:extLst>
                <a:ext uri="{FF2B5EF4-FFF2-40B4-BE49-F238E27FC236}">
                  <a16:creationId xmlns:a16="http://schemas.microsoft.com/office/drawing/2014/main" id="{1E711772-63AE-3AE0-28D5-686F5B180D8B}"/>
                </a:ext>
              </a:extLst>
            </p:cNvPr>
            <p:cNvSpPr/>
            <p:nvPr/>
          </p:nvSpPr>
          <p:spPr>
            <a:xfrm rot="10800000">
              <a:off x="5348238" y="2063451"/>
              <a:ext cx="0" cy="220489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" name="Text 8">
              <a:extLst>
                <a:ext uri="{FF2B5EF4-FFF2-40B4-BE49-F238E27FC236}">
                  <a16:creationId xmlns:a16="http://schemas.microsoft.com/office/drawing/2014/main" id="{C4291416-A685-0398-71AC-F5D6EEB8A6A7}"/>
                </a:ext>
              </a:extLst>
            </p:cNvPr>
            <p:cNvSpPr/>
            <p:nvPr/>
          </p:nvSpPr>
          <p:spPr>
            <a:xfrm>
              <a:off x="4990813" y="1133983"/>
              <a:ext cx="282589" cy="1065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TE</a:t>
              </a:r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8BC2F6C-B17C-E79C-B154-9C15158A39DD}"/>
                </a:ext>
              </a:extLst>
            </p:cNvPr>
            <p:cNvSpPr/>
            <p:nvPr/>
          </p:nvSpPr>
          <p:spPr>
            <a:xfrm>
              <a:off x="2454212" y="1681398"/>
              <a:ext cx="90336" cy="7977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Shape 4">
              <a:extLst>
                <a:ext uri="{FF2B5EF4-FFF2-40B4-BE49-F238E27FC236}">
                  <a16:creationId xmlns:a16="http://schemas.microsoft.com/office/drawing/2014/main" id="{ECDE3B36-E7A3-620E-7E08-00105380ED29}"/>
                </a:ext>
              </a:extLst>
            </p:cNvPr>
            <p:cNvSpPr/>
            <p:nvPr/>
          </p:nvSpPr>
          <p:spPr>
            <a:xfrm>
              <a:off x="5132911" y="1384639"/>
              <a:ext cx="0" cy="13226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942AFA5-74F7-8753-DDBC-92C4D58CAEDA}"/>
                </a:ext>
              </a:extLst>
            </p:cNvPr>
            <p:cNvSpPr/>
            <p:nvPr/>
          </p:nvSpPr>
          <p:spPr>
            <a:xfrm>
              <a:off x="5091976" y="1317558"/>
              <a:ext cx="90336" cy="7977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E08B541-9356-3E14-F702-78FD49EC6483}"/>
                </a:ext>
              </a:extLst>
            </p:cNvPr>
            <p:cNvSpPr txBox="1"/>
            <p:nvPr/>
          </p:nvSpPr>
          <p:spPr>
            <a:xfrm>
              <a:off x="5103963" y="2363634"/>
              <a:ext cx="6323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BE</a:t>
              </a:r>
            </a:p>
          </p:txBody>
        </p:sp>
        <p:sp>
          <p:nvSpPr>
            <p:cNvPr id="116" name="Left Brace 115">
              <a:extLst>
                <a:ext uri="{FF2B5EF4-FFF2-40B4-BE49-F238E27FC236}">
                  <a16:creationId xmlns:a16="http://schemas.microsoft.com/office/drawing/2014/main" id="{8EBC199C-9572-A4D3-D82C-631E3B34460A}"/>
                </a:ext>
              </a:extLst>
            </p:cNvPr>
            <p:cNvSpPr/>
            <p:nvPr/>
          </p:nvSpPr>
          <p:spPr>
            <a:xfrm rot="5400000">
              <a:off x="2412695" y="156353"/>
              <a:ext cx="172143" cy="1622734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A7A2F1D-7903-28F9-8E10-B134656983B7}"/>
                </a:ext>
              </a:extLst>
            </p:cNvPr>
            <p:cNvSpPr txBox="1"/>
            <p:nvPr/>
          </p:nvSpPr>
          <p:spPr>
            <a:xfrm>
              <a:off x="2273235" y="549961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1T</a:t>
              </a:r>
            </a:p>
          </p:txBody>
        </p:sp>
        <p:sp>
          <p:nvSpPr>
            <p:cNvPr id="118" name="Left Brace 117">
              <a:extLst>
                <a:ext uri="{FF2B5EF4-FFF2-40B4-BE49-F238E27FC236}">
                  <a16:creationId xmlns:a16="http://schemas.microsoft.com/office/drawing/2014/main" id="{D2554F4F-CA2C-E28C-EC5B-986C00300691}"/>
                </a:ext>
              </a:extLst>
            </p:cNvPr>
            <p:cNvSpPr/>
            <p:nvPr/>
          </p:nvSpPr>
          <p:spPr>
            <a:xfrm rot="5400000">
              <a:off x="5038865" y="149995"/>
              <a:ext cx="172143" cy="1622734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E864070-C444-FFDC-455F-0B319658EFDA}"/>
                </a:ext>
              </a:extLst>
            </p:cNvPr>
            <p:cNvSpPr txBox="1"/>
            <p:nvPr/>
          </p:nvSpPr>
          <p:spPr>
            <a:xfrm>
              <a:off x="4907380" y="544126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6102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BC3096-8502-4172-471B-50A68BD54FC8}"/>
              </a:ext>
            </a:extLst>
          </p:cNvPr>
          <p:cNvGrpSpPr/>
          <p:nvPr/>
        </p:nvGrpSpPr>
        <p:grpSpPr>
          <a:xfrm>
            <a:off x="3575379" y="2045238"/>
            <a:ext cx="5292679" cy="2335026"/>
            <a:chOff x="3575379" y="2045238"/>
            <a:chExt cx="5292679" cy="2335026"/>
          </a:xfrm>
        </p:grpSpPr>
        <p:sp>
          <p:nvSpPr>
            <p:cNvPr id="68" name="Rechteck 15">
              <a:extLst>
                <a:ext uri="{FF2B5EF4-FFF2-40B4-BE49-F238E27FC236}">
                  <a16:creationId xmlns:a16="http://schemas.microsoft.com/office/drawing/2014/main" id="{E2136C35-650B-41BD-7F53-DB341F5D084B}"/>
                </a:ext>
              </a:extLst>
            </p:cNvPr>
            <p:cNvSpPr/>
            <p:nvPr/>
          </p:nvSpPr>
          <p:spPr>
            <a:xfrm>
              <a:off x="6506012" y="2729974"/>
              <a:ext cx="382032" cy="409365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/>
            </a:p>
          </p:txBody>
        </p:sp>
        <p:sp>
          <p:nvSpPr>
            <p:cNvPr id="22" name="Rechteck 12">
              <a:extLst>
                <a:ext uri="{FF2B5EF4-FFF2-40B4-BE49-F238E27FC236}">
                  <a16:creationId xmlns:a16="http://schemas.microsoft.com/office/drawing/2014/main" id="{4C2C2DE5-3A1C-0892-5E00-7485B0C501C5}"/>
                </a:ext>
              </a:extLst>
            </p:cNvPr>
            <p:cNvSpPr/>
            <p:nvPr/>
          </p:nvSpPr>
          <p:spPr>
            <a:xfrm>
              <a:off x="7204873" y="2913501"/>
              <a:ext cx="941240" cy="225839"/>
            </a:xfrm>
            <a:prstGeom prst="rect">
              <a:avLst/>
            </a:prstGeom>
            <a:solidFill>
              <a:srgbClr val="F2D9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>
                  <a:solidFill>
                    <a:schemeClr val="bg1"/>
                  </a:solidFill>
                </a:rPr>
                <a:t>IGZO</a:t>
              </a:r>
            </a:p>
          </p:txBody>
        </p:sp>
        <p:sp>
          <p:nvSpPr>
            <p:cNvPr id="20" name="Rechteck 15">
              <a:extLst>
                <a:ext uri="{FF2B5EF4-FFF2-40B4-BE49-F238E27FC236}">
                  <a16:creationId xmlns:a16="http://schemas.microsoft.com/office/drawing/2014/main" id="{7C3E13F7-C21E-82FA-5478-0074828269B5}"/>
                </a:ext>
              </a:extLst>
            </p:cNvPr>
            <p:cNvSpPr/>
            <p:nvPr/>
          </p:nvSpPr>
          <p:spPr>
            <a:xfrm>
              <a:off x="6115575" y="3121167"/>
              <a:ext cx="2050680" cy="326219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                       Pt</a:t>
              </a:r>
            </a:p>
          </p:txBody>
        </p:sp>
        <p:sp>
          <p:nvSpPr>
            <p:cNvPr id="65" name="Rechteck 15">
              <a:extLst>
                <a:ext uri="{FF2B5EF4-FFF2-40B4-BE49-F238E27FC236}">
                  <a16:creationId xmlns:a16="http://schemas.microsoft.com/office/drawing/2014/main" id="{CFA44BBD-0D32-97D9-2DBD-20FE79FC74EC}"/>
                </a:ext>
              </a:extLst>
            </p:cNvPr>
            <p:cNvSpPr/>
            <p:nvPr/>
          </p:nvSpPr>
          <p:spPr>
            <a:xfrm>
              <a:off x="6654827" y="3021797"/>
              <a:ext cx="104111" cy="723656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b="1" dirty="0"/>
            </a:p>
          </p:txBody>
        </p:sp>
        <p:sp>
          <p:nvSpPr>
            <p:cNvPr id="71" name="Rechteck 15">
              <a:extLst>
                <a:ext uri="{FF2B5EF4-FFF2-40B4-BE49-F238E27FC236}">
                  <a16:creationId xmlns:a16="http://schemas.microsoft.com/office/drawing/2014/main" id="{DDA416F1-95FC-4570-FCA3-24E23810FC08}"/>
                </a:ext>
              </a:extLst>
            </p:cNvPr>
            <p:cNvSpPr/>
            <p:nvPr/>
          </p:nvSpPr>
          <p:spPr>
            <a:xfrm>
              <a:off x="5760391" y="2741082"/>
              <a:ext cx="379317" cy="706304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b="1" dirty="0"/>
            </a:p>
          </p:txBody>
        </p:sp>
        <p:sp>
          <p:nvSpPr>
            <p:cNvPr id="4" name="Rechteck 15">
              <a:extLst>
                <a:ext uri="{FF2B5EF4-FFF2-40B4-BE49-F238E27FC236}">
                  <a16:creationId xmlns:a16="http://schemas.microsoft.com/office/drawing/2014/main" id="{A02AB37B-E8E0-4A54-5851-51419DBE3EE6}"/>
                </a:ext>
              </a:extLst>
            </p:cNvPr>
            <p:cNvSpPr/>
            <p:nvPr/>
          </p:nvSpPr>
          <p:spPr>
            <a:xfrm>
              <a:off x="6115414" y="2677353"/>
              <a:ext cx="146839" cy="760760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/>
            </a:p>
          </p:txBody>
        </p:sp>
        <p:sp>
          <p:nvSpPr>
            <p:cNvPr id="76" name="Rechteck 15">
              <a:extLst>
                <a:ext uri="{FF2B5EF4-FFF2-40B4-BE49-F238E27FC236}">
                  <a16:creationId xmlns:a16="http://schemas.microsoft.com/office/drawing/2014/main" id="{70352CC0-7BA9-C248-AEBE-D7526D47CA37}"/>
                </a:ext>
              </a:extLst>
            </p:cNvPr>
            <p:cNvSpPr/>
            <p:nvPr/>
          </p:nvSpPr>
          <p:spPr>
            <a:xfrm>
              <a:off x="3801863" y="2729975"/>
              <a:ext cx="137585" cy="814733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/>
            </a:p>
          </p:txBody>
        </p:sp>
        <p:sp>
          <p:nvSpPr>
            <p:cNvPr id="3" name="Rechteck 15">
              <a:extLst>
                <a:ext uri="{FF2B5EF4-FFF2-40B4-BE49-F238E27FC236}">
                  <a16:creationId xmlns:a16="http://schemas.microsoft.com/office/drawing/2014/main" id="{4388D54E-F5E4-6F46-8A79-6D78B7191346}"/>
                </a:ext>
              </a:extLst>
            </p:cNvPr>
            <p:cNvSpPr/>
            <p:nvPr/>
          </p:nvSpPr>
          <p:spPr>
            <a:xfrm>
              <a:off x="3576130" y="3395026"/>
              <a:ext cx="423285" cy="143666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/>
                <a:t>      </a:t>
              </a:r>
              <a:endParaRPr lang="de-DE" sz="700" b="1" dirty="0"/>
            </a:p>
          </p:txBody>
        </p:sp>
        <p:sp>
          <p:nvSpPr>
            <p:cNvPr id="21" name="Rechteck 15">
              <a:extLst>
                <a:ext uri="{FF2B5EF4-FFF2-40B4-BE49-F238E27FC236}">
                  <a16:creationId xmlns:a16="http://schemas.microsoft.com/office/drawing/2014/main" id="{C8008646-E8E8-FE96-B3ED-F2D987FCABB4}"/>
                </a:ext>
              </a:extLst>
            </p:cNvPr>
            <p:cNvSpPr/>
            <p:nvPr/>
          </p:nvSpPr>
          <p:spPr>
            <a:xfrm>
              <a:off x="6033461" y="3426096"/>
              <a:ext cx="2132794" cy="12462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 dirty="0"/>
                <a:t>                                               Ti</a:t>
              </a:r>
            </a:p>
          </p:txBody>
        </p:sp>
        <p:sp>
          <p:nvSpPr>
            <p:cNvPr id="75" name="Rechteck 15">
              <a:extLst>
                <a:ext uri="{FF2B5EF4-FFF2-40B4-BE49-F238E27FC236}">
                  <a16:creationId xmlns:a16="http://schemas.microsoft.com/office/drawing/2014/main" id="{32DB7A28-7E2F-E776-0394-C321F298D81A}"/>
                </a:ext>
              </a:extLst>
            </p:cNvPr>
            <p:cNvSpPr/>
            <p:nvPr/>
          </p:nvSpPr>
          <p:spPr>
            <a:xfrm>
              <a:off x="3918842" y="2745450"/>
              <a:ext cx="276867" cy="807145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b="1" dirty="0"/>
            </a:p>
          </p:txBody>
        </p:sp>
        <p:sp>
          <p:nvSpPr>
            <p:cNvPr id="57" name="Rechteck 8">
              <a:extLst>
                <a:ext uri="{FF2B5EF4-FFF2-40B4-BE49-F238E27FC236}">
                  <a16:creationId xmlns:a16="http://schemas.microsoft.com/office/drawing/2014/main" id="{549B846E-F72D-C131-0DBC-70D86E2A84D9}"/>
                </a:ext>
              </a:extLst>
            </p:cNvPr>
            <p:cNvSpPr/>
            <p:nvPr/>
          </p:nvSpPr>
          <p:spPr>
            <a:xfrm>
              <a:off x="4006701" y="3049306"/>
              <a:ext cx="214821" cy="50003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6" name="Rechteck 8">
              <a:extLst>
                <a:ext uri="{FF2B5EF4-FFF2-40B4-BE49-F238E27FC236}">
                  <a16:creationId xmlns:a16="http://schemas.microsoft.com/office/drawing/2014/main" id="{A2BFFC6F-F7DC-8F74-4CE2-756780F76193}"/>
                </a:ext>
              </a:extLst>
            </p:cNvPr>
            <p:cNvSpPr/>
            <p:nvPr/>
          </p:nvSpPr>
          <p:spPr>
            <a:xfrm>
              <a:off x="5838559" y="3051006"/>
              <a:ext cx="201448" cy="51569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hteck 8">
              <a:extLst>
                <a:ext uri="{FF2B5EF4-FFF2-40B4-BE49-F238E27FC236}">
                  <a16:creationId xmlns:a16="http://schemas.microsoft.com/office/drawing/2014/main" id="{607B019C-BA1F-8D7F-350C-F0EA35D1CEEB}"/>
                </a:ext>
              </a:extLst>
            </p:cNvPr>
            <p:cNvSpPr/>
            <p:nvPr/>
          </p:nvSpPr>
          <p:spPr>
            <a:xfrm>
              <a:off x="5796807" y="3546320"/>
              <a:ext cx="2369448" cy="20679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A174642-3376-0F4F-2020-B4FA2899EFB8}"/>
                </a:ext>
              </a:extLst>
            </p:cNvPr>
            <p:cNvSpPr/>
            <p:nvPr/>
          </p:nvSpPr>
          <p:spPr>
            <a:xfrm>
              <a:off x="3801863" y="2437441"/>
              <a:ext cx="520589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/>
                <a:t>Pt</a:t>
              </a:r>
              <a:endParaRPr lang="de-DE" sz="1400" b="1" dirty="0"/>
            </a:p>
          </p:txBody>
        </p:sp>
        <p:sp>
          <p:nvSpPr>
            <p:cNvPr id="8" name="Rechteck 8">
              <a:extLst>
                <a:ext uri="{FF2B5EF4-FFF2-40B4-BE49-F238E27FC236}">
                  <a16:creationId xmlns:a16="http://schemas.microsoft.com/office/drawing/2014/main" id="{5B3672BE-E72B-6513-ED3C-C19329D08F6F}"/>
                </a:ext>
              </a:extLst>
            </p:cNvPr>
            <p:cNvSpPr/>
            <p:nvPr/>
          </p:nvSpPr>
          <p:spPr>
            <a:xfrm>
              <a:off x="3576131" y="3533900"/>
              <a:ext cx="675169" cy="2206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D50F9D7-489F-9DF6-B239-31801D67166A}"/>
                </a:ext>
              </a:extLst>
            </p:cNvPr>
            <p:cNvSpPr/>
            <p:nvPr/>
          </p:nvSpPr>
          <p:spPr>
            <a:xfrm>
              <a:off x="4007664" y="3044672"/>
              <a:ext cx="2032343" cy="21287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Al₂O₃</a:t>
              </a:r>
            </a:p>
          </p:txBody>
        </p:sp>
        <p:sp>
          <p:nvSpPr>
            <p:cNvPr id="11" name="Rechteck 12">
              <a:extLst>
                <a:ext uri="{FF2B5EF4-FFF2-40B4-BE49-F238E27FC236}">
                  <a16:creationId xmlns:a16="http://schemas.microsoft.com/office/drawing/2014/main" id="{9576187D-52EB-B048-AA61-2B99D7994082}"/>
                </a:ext>
              </a:extLst>
            </p:cNvPr>
            <p:cNvSpPr/>
            <p:nvPr/>
          </p:nvSpPr>
          <p:spPr>
            <a:xfrm>
              <a:off x="4007665" y="2839640"/>
              <a:ext cx="2032342" cy="206795"/>
            </a:xfrm>
            <a:prstGeom prst="rect">
              <a:avLst/>
            </a:prstGeom>
            <a:solidFill>
              <a:srgbClr val="F2D9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>
                  <a:solidFill>
                    <a:schemeClr val="bg1"/>
                  </a:solidFill>
                </a:rPr>
                <a:t>IGZO</a:t>
              </a:r>
            </a:p>
          </p:txBody>
        </p:sp>
        <p:sp>
          <p:nvSpPr>
            <p:cNvPr id="13" name="Rechteck 15">
              <a:extLst>
                <a:ext uri="{FF2B5EF4-FFF2-40B4-BE49-F238E27FC236}">
                  <a16:creationId xmlns:a16="http://schemas.microsoft.com/office/drawing/2014/main" id="{95F9442A-71A6-DB9C-6B89-217907B2696D}"/>
                </a:ext>
              </a:extLst>
            </p:cNvPr>
            <p:cNvSpPr/>
            <p:nvPr/>
          </p:nvSpPr>
          <p:spPr>
            <a:xfrm>
              <a:off x="4215826" y="3253229"/>
              <a:ext cx="1624579" cy="407076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/>
                <a:t>Pt</a:t>
              </a:r>
              <a:endParaRPr lang="de-DE" sz="1400" b="1" dirty="0"/>
            </a:p>
          </p:txBody>
        </p:sp>
        <p:sp>
          <p:nvSpPr>
            <p:cNvPr id="15" name="Rechteck 15">
              <a:extLst>
                <a:ext uri="{FF2B5EF4-FFF2-40B4-BE49-F238E27FC236}">
                  <a16:creationId xmlns:a16="http://schemas.microsoft.com/office/drawing/2014/main" id="{68395341-339B-3046-C5C3-9E281BEF5B2D}"/>
                </a:ext>
              </a:extLst>
            </p:cNvPr>
            <p:cNvSpPr/>
            <p:nvPr/>
          </p:nvSpPr>
          <p:spPr>
            <a:xfrm>
              <a:off x="4215826" y="3656293"/>
              <a:ext cx="1624579" cy="103397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/>
                <a:t>Ti</a:t>
              </a:r>
              <a:endParaRPr lang="de-DE" sz="700" b="1" dirty="0"/>
            </a:p>
          </p:txBody>
        </p:sp>
        <p:sp>
          <p:nvSpPr>
            <p:cNvPr id="18" name="Rechteck 15">
              <a:extLst>
                <a:ext uri="{FF2B5EF4-FFF2-40B4-BE49-F238E27FC236}">
                  <a16:creationId xmlns:a16="http://schemas.microsoft.com/office/drawing/2014/main" id="{3B32623B-D80A-A4A4-CCD3-3311DD9A778E}"/>
                </a:ext>
              </a:extLst>
            </p:cNvPr>
            <p:cNvSpPr/>
            <p:nvPr/>
          </p:nvSpPr>
          <p:spPr>
            <a:xfrm>
              <a:off x="5728085" y="2442649"/>
              <a:ext cx="534169" cy="316616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/>
                <a:t>Pt</a:t>
              </a:r>
              <a:endParaRPr lang="de-DE" sz="1400" b="1" dirty="0"/>
            </a:p>
          </p:txBody>
        </p:sp>
        <p:sp>
          <p:nvSpPr>
            <p:cNvPr id="17" name="Rechteck 15">
              <a:extLst>
                <a:ext uri="{FF2B5EF4-FFF2-40B4-BE49-F238E27FC236}">
                  <a16:creationId xmlns:a16="http://schemas.microsoft.com/office/drawing/2014/main" id="{154D7AFB-6235-486A-FDFC-A755F50610E8}"/>
                </a:ext>
              </a:extLst>
            </p:cNvPr>
            <p:cNvSpPr/>
            <p:nvPr/>
          </p:nvSpPr>
          <p:spPr>
            <a:xfrm>
              <a:off x="3943136" y="2745450"/>
              <a:ext cx="379316" cy="9867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/>
                <a:t> Ti</a:t>
              </a:r>
              <a:endParaRPr lang="de-DE" sz="700" b="1" dirty="0"/>
            </a:p>
          </p:txBody>
        </p:sp>
        <p:sp>
          <p:nvSpPr>
            <p:cNvPr id="73" name="Rechteck 15">
              <a:extLst>
                <a:ext uri="{FF2B5EF4-FFF2-40B4-BE49-F238E27FC236}">
                  <a16:creationId xmlns:a16="http://schemas.microsoft.com/office/drawing/2014/main" id="{DE829E34-4CC5-C046-81C4-D6D46E0FB978}"/>
                </a:ext>
              </a:extLst>
            </p:cNvPr>
            <p:cNvSpPr/>
            <p:nvPr/>
          </p:nvSpPr>
          <p:spPr>
            <a:xfrm>
              <a:off x="7204449" y="2505792"/>
              <a:ext cx="942087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Pt</a:t>
              </a:r>
            </a:p>
          </p:txBody>
        </p:sp>
        <p:sp>
          <p:nvSpPr>
            <p:cNvPr id="74" name="Rechteck 15">
              <a:extLst>
                <a:ext uri="{FF2B5EF4-FFF2-40B4-BE49-F238E27FC236}">
                  <a16:creationId xmlns:a16="http://schemas.microsoft.com/office/drawing/2014/main" id="{FA6A777F-A677-0540-1610-1D425257F67B}"/>
                </a:ext>
              </a:extLst>
            </p:cNvPr>
            <p:cNvSpPr/>
            <p:nvPr/>
          </p:nvSpPr>
          <p:spPr>
            <a:xfrm>
              <a:off x="7204873" y="2811542"/>
              <a:ext cx="942088" cy="103397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 dirty="0"/>
                <a:t>Ti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FF3366-B47D-16AB-DEA0-A5486B4ED4F6}"/>
                </a:ext>
              </a:extLst>
            </p:cNvPr>
            <p:cNvSpPr txBox="1"/>
            <p:nvPr/>
          </p:nvSpPr>
          <p:spPr>
            <a:xfrm>
              <a:off x="3895320" y="2045238"/>
              <a:ext cx="3440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570E73-FB38-2BAC-F5B7-59E11F6CC245}"/>
                </a:ext>
              </a:extLst>
            </p:cNvPr>
            <p:cNvSpPr txBox="1"/>
            <p:nvPr/>
          </p:nvSpPr>
          <p:spPr>
            <a:xfrm>
              <a:off x="5816343" y="2046908"/>
              <a:ext cx="3440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BC7E56-0474-B6A5-F951-E61C9F3C48BC}"/>
                </a:ext>
              </a:extLst>
            </p:cNvPr>
            <p:cNvSpPr txBox="1"/>
            <p:nvPr/>
          </p:nvSpPr>
          <p:spPr>
            <a:xfrm>
              <a:off x="7413439" y="2146606"/>
              <a:ext cx="5088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TE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A510DEB-401A-78FE-FC39-0347EF14415C}"/>
                </a:ext>
              </a:extLst>
            </p:cNvPr>
            <p:cNvSpPr txBox="1"/>
            <p:nvPr/>
          </p:nvSpPr>
          <p:spPr>
            <a:xfrm>
              <a:off x="8151410" y="2838474"/>
              <a:ext cx="7166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BE</a:t>
              </a:r>
            </a:p>
          </p:txBody>
        </p:sp>
        <p:sp>
          <p:nvSpPr>
            <p:cNvPr id="67" name="Rechteck 15">
              <a:extLst>
                <a:ext uri="{FF2B5EF4-FFF2-40B4-BE49-F238E27FC236}">
                  <a16:creationId xmlns:a16="http://schemas.microsoft.com/office/drawing/2014/main" id="{6264FFBF-552D-4CA2-E141-A3135C4D7EFF}"/>
                </a:ext>
              </a:extLst>
            </p:cNvPr>
            <p:cNvSpPr/>
            <p:nvPr/>
          </p:nvSpPr>
          <p:spPr>
            <a:xfrm>
              <a:off x="5728084" y="2741082"/>
              <a:ext cx="387330" cy="9867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b="1"/>
                <a:t> Ti</a:t>
              </a:r>
              <a:endParaRPr lang="de-DE" sz="700" b="1" dirty="0"/>
            </a:p>
          </p:txBody>
        </p:sp>
        <p:sp>
          <p:nvSpPr>
            <p:cNvPr id="5" name="Rechteck 15">
              <a:extLst>
                <a:ext uri="{FF2B5EF4-FFF2-40B4-BE49-F238E27FC236}">
                  <a16:creationId xmlns:a16="http://schemas.microsoft.com/office/drawing/2014/main" id="{A70B43E6-AC93-858F-D441-81F79A24ECAB}"/>
                </a:ext>
              </a:extLst>
            </p:cNvPr>
            <p:cNvSpPr/>
            <p:nvPr/>
          </p:nvSpPr>
          <p:spPr>
            <a:xfrm>
              <a:off x="3575379" y="3090154"/>
              <a:ext cx="345469" cy="310192"/>
            </a:xfrm>
            <a:prstGeom prst="rect">
              <a:avLst/>
            </a:prstGeom>
            <a:solidFill>
              <a:srgbClr val="789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b="1" dirty="0"/>
            </a:p>
          </p:txBody>
        </p:sp>
        <p:sp>
          <p:nvSpPr>
            <p:cNvPr id="6" name="Rechteck 3">
              <a:extLst>
                <a:ext uri="{FF2B5EF4-FFF2-40B4-BE49-F238E27FC236}">
                  <a16:creationId xmlns:a16="http://schemas.microsoft.com/office/drawing/2014/main" id="{69B44FD1-99C5-1411-3B38-73A7EF8AD3FF}"/>
                </a:ext>
              </a:extLst>
            </p:cNvPr>
            <p:cNvSpPr/>
            <p:nvPr/>
          </p:nvSpPr>
          <p:spPr>
            <a:xfrm>
              <a:off x="3576130" y="3754324"/>
              <a:ext cx="4590125" cy="62594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bg1"/>
                  </a:solidFill>
                </a:rPr>
                <a:t>Si/SiO</a:t>
              </a:r>
              <a:r>
                <a:rPr lang="de-DE" b="1" baseline="-25000" dirty="0">
                  <a:solidFill>
                    <a:schemeClr val="bg1"/>
                  </a:solidFill>
                </a:rPr>
                <a:t>2</a:t>
              </a:r>
              <a:r>
                <a:rPr lang="de-DE" b="1" dirty="0">
                  <a:solidFill>
                    <a:schemeClr val="bg1"/>
                  </a:solidFill>
                </a:rPr>
                <a:t> substrate</a:t>
              </a:r>
            </a:p>
          </p:txBody>
        </p:sp>
        <p:sp>
          <p:nvSpPr>
            <p:cNvPr id="7" name="Rechteck 20">
              <a:extLst>
                <a:ext uri="{FF2B5EF4-FFF2-40B4-BE49-F238E27FC236}">
                  <a16:creationId xmlns:a16="http://schemas.microsoft.com/office/drawing/2014/main" id="{4DC242E6-4240-E0E3-CB18-A061DE5A2D33}"/>
                </a:ext>
              </a:extLst>
            </p:cNvPr>
            <p:cNvSpPr/>
            <p:nvPr/>
          </p:nvSpPr>
          <p:spPr>
            <a:xfrm>
              <a:off x="3576130" y="3752947"/>
              <a:ext cx="4590125" cy="6724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69" name="Rechteck 15">
              <a:extLst>
                <a:ext uri="{FF2B5EF4-FFF2-40B4-BE49-F238E27FC236}">
                  <a16:creationId xmlns:a16="http://schemas.microsoft.com/office/drawing/2014/main" id="{705214E1-0EFB-18C4-EE4B-49DD89145116}"/>
                </a:ext>
              </a:extLst>
            </p:cNvPr>
            <p:cNvSpPr/>
            <p:nvPr/>
          </p:nvSpPr>
          <p:spPr>
            <a:xfrm>
              <a:off x="6678960" y="3021797"/>
              <a:ext cx="209083" cy="98672"/>
            </a:xfrm>
            <a:prstGeom prst="rect">
              <a:avLst/>
            </a:prstGeom>
            <a:solidFill>
              <a:srgbClr val="D2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7599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1B15-E050-A7F0-EE33-7F9D9F3A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Monolithic</a:t>
            </a:r>
            <a:r>
              <a:rPr lang="de-DE" dirty="0"/>
              <a:t> IGZO-</a:t>
            </a:r>
            <a:r>
              <a:rPr lang="de-DE" dirty="0" err="1"/>
              <a:t>Based</a:t>
            </a:r>
            <a:r>
              <a:rPr lang="de-DE" dirty="0"/>
              <a:t> 1T1R Device </a:t>
            </a:r>
            <a:r>
              <a:rPr lang="de-DE" dirty="0" err="1"/>
              <a:t>Structure</a:t>
            </a:r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01E78CF-5254-01D6-12B3-3B0AB081B27A}"/>
              </a:ext>
            </a:extLst>
          </p:cNvPr>
          <p:cNvGrpSpPr/>
          <p:nvPr/>
        </p:nvGrpSpPr>
        <p:grpSpPr>
          <a:xfrm>
            <a:off x="1023371" y="2614010"/>
            <a:ext cx="7285017" cy="2572588"/>
            <a:chOff x="1023371" y="2614010"/>
            <a:chExt cx="7285017" cy="257258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0C57D30-5A5B-57E3-C0C9-0D782AC3B9D6}"/>
                </a:ext>
              </a:extLst>
            </p:cNvPr>
            <p:cNvGrpSpPr/>
            <p:nvPr/>
          </p:nvGrpSpPr>
          <p:grpSpPr>
            <a:xfrm>
              <a:off x="5490968" y="2693274"/>
              <a:ext cx="2817420" cy="2484643"/>
              <a:chOff x="5762463" y="2598313"/>
              <a:chExt cx="3000419" cy="2702552"/>
            </a:xfrm>
          </p:grpSpPr>
          <p:sp>
            <p:nvSpPr>
              <p:cNvPr id="27" name="Rechteck 4">
                <a:extLst>
                  <a:ext uri="{FF2B5EF4-FFF2-40B4-BE49-F238E27FC236}">
                    <a16:creationId xmlns:a16="http://schemas.microsoft.com/office/drawing/2014/main" id="{90A3641C-B18D-D51F-98E0-DB700285F638}"/>
                  </a:ext>
                </a:extLst>
              </p:cNvPr>
              <p:cNvSpPr/>
              <p:nvPr/>
            </p:nvSpPr>
            <p:spPr>
              <a:xfrm>
                <a:off x="5762463" y="3458047"/>
                <a:ext cx="2898820" cy="180436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/>
              </a:p>
            </p:txBody>
          </p:sp>
          <p:grpSp>
            <p:nvGrpSpPr>
              <p:cNvPr id="48" name="Gruppieren 16">
                <a:extLst>
                  <a:ext uri="{FF2B5EF4-FFF2-40B4-BE49-F238E27FC236}">
                    <a16:creationId xmlns:a16="http://schemas.microsoft.com/office/drawing/2014/main" id="{50996B2D-3ACD-1A26-9084-B66FDCBFB71F}"/>
                  </a:ext>
                </a:extLst>
              </p:cNvPr>
              <p:cNvGrpSpPr/>
              <p:nvPr/>
            </p:nvGrpSpPr>
            <p:grpSpPr>
              <a:xfrm rot="5400000">
                <a:off x="7704947" y="3494976"/>
                <a:ext cx="297646" cy="1408648"/>
                <a:chOff x="5538924" y="3149509"/>
                <a:chExt cx="527051" cy="2374991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49" name="Rechteck: obere Ecken abgeschnitten 17">
                  <a:extLst>
                    <a:ext uri="{FF2B5EF4-FFF2-40B4-BE49-F238E27FC236}">
                      <a16:creationId xmlns:a16="http://schemas.microsoft.com/office/drawing/2014/main" id="{AFA5FCE8-B6FA-77A0-FA96-A4C368EE2B21}"/>
                    </a:ext>
                  </a:extLst>
                </p:cNvPr>
                <p:cNvSpPr/>
                <p:nvPr/>
              </p:nvSpPr>
              <p:spPr>
                <a:xfrm>
                  <a:off x="5538925" y="5041900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5A65A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  <p:sp>
              <p:nvSpPr>
                <p:cNvPr id="50" name="Rechteck 18">
                  <a:extLst>
                    <a:ext uri="{FF2B5EF4-FFF2-40B4-BE49-F238E27FC236}">
                      <a16:creationId xmlns:a16="http://schemas.microsoft.com/office/drawing/2014/main" id="{45528A9E-F94A-75E1-3478-B2D7EC6BE1C2}"/>
                    </a:ext>
                  </a:extLst>
                </p:cNvPr>
                <p:cNvSpPr/>
                <p:nvPr/>
              </p:nvSpPr>
              <p:spPr>
                <a:xfrm>
                  <a:off x="5757275" y="3713025"/>
                  <a:ext cx="90350" cy="1328875"/>
                </a:xfrm>
                <a:prstGeom prst="rect">
                  <a:avLst/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  <p:sp>
              <p:nvSpPr>
                <p:cNvPr id="51" name="Rechteck: obere Ecken abgeschnitten 19">
                  <a:extLst>
                    <a:ext uri="{FF2B5EF4-FFF2-40B4-BE49-F238E27FC236}">
                      <a16:creationId xmlns:a16="http://schemas.microsoft.com/office/drawing/2014/main" id="{5623A9C9-40D0-EE7C-D57A-F876CE55DC47}"/>
                    </a:ext>
                  </a:extLst>
                </p:cNvPr>
                <p:cNvSpPr/>
                <p:nvPr/>
              </p:nvSpPr>
              <p:spPr>
                <a:xfrm rot="10800000">
                  <a:off x="5538924" y="3149509"/>
                  <a:ext cx="527050" cy="563516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28" name="Rechteck 21">
                <a:extLst>
                  <a:ext uri="{FF2B5EF4-FFF2-40B4-BE49-F238E27FC236}">
                    <a16:creationId xmlns:a16="http://schemas.microsoft.com/office/drawing/2014/main" id="{F9549197-002B-FD89-9AA9-CD9B6169FF84}"/>
                  </a:ext>
                </a:extLst>
              </p:cNvPr>
              <p:cNvSpPr/>
              <p:nvPr/>
            </p:nvSpPr>
            <p:spPr>
              <a:xfrm>
                <a:off x="5903979" y="4050362"/>
                <a:ext cx="231985" cy="1071523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/>
              </a:p>
            </p:txBody>
          </p:sp>
          <p:sp>
            <p:nvSpPr>
              <p:cNvPr id="29" name="Rechteck 22">
                <a:extLst>
                  <a:ext uri="{FF2B5EF4-FFF2-40B4-BE49-F238E27FC236}">
                    <a16:creationId xmlns:a16="http://schemas.microsoft.com/office/drawing/2014/main" id="{E978E614-4711-482E-2FFD-243FF2495C5C}"/>
                  </a:ext>
                </a:extLst>
              </p:cNvPr>
              <p:cNvSpPr/>
              <p:nvPr/>
            </p:nvSpPr>
            <p:spPr>
              <a:xfrm>
                <a:off x="7097141" y="4050362"/>
                <a:ext cx="231985" cy="1071523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/>
              </a:p>
            </p:txBody>
          </p:sp>
          <p:sp>
            <p:nvSpPr>
              <p:cNvPr id="30" name="Rechteck 24">
                <a:extLst>
                  <a:ext uri="{FF2B5EF4-FFF2-40B4-BE49-F238E27FC236}">
                    <a16:creationId xmlns:a16="http://schemas.microsoft.com/office/drawing/2014/main" id="{C549A44C-8587-8118-3A68-666B57944BC4}"/>
                  </a:ext>
                </a:extLst>
              </p:cNvPr>
              <p:cNvSpPr/>
              <p:nvPr/>
            </p:nvSpPr>
            <p:spPr>
              <a:xfrm>
                <a:off x="5903979" y="4050362"/>
                <a:ext cx="461845" cy="63617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/>
              </a:p>
            </p:txBody>
          </p:sp>
          <p:sp>
            <p:nvSpPr>
              <p:cNvPr id="31" name="Rechteck 26">
                <a:extLst>
                  <a:ext uri="{FF2B5EF4-FFF2-40B4-BE49-F238E27FC236}">
                    <a16:creationId xmlns:a16="http://schemas.microsoft.com/office/drawing/2014/main" id="{310C03AA-C3EF-4A95-7D76-49A5B964E5C0}"/>
                  </a:ext>
                </a:extLst>
              </p:cNvPr>
              <p:cNvSpPr/>
              <p:nvPr/>
            </p:nvSpPr>
            <p:spPr>
              <a:xfrm>
                <a:off x="6867281" y="4050362"/>
                <a:ext cx="461845" cy="63617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/>
              </a:p>
            </p:txBody>
          </p:sp>
          <p:sp>
            <p:nvSpPr>
              <p:cNvPr id="32" name="Rechteck 27">
                <a:extLst>
                  <a:ext uri="{FF2B5EF4-FFF2-40B4-BE49-F238E27FC236}">
                    <a16:creationId xmlns:a16="http://schemas.microsoft.com/office/drawing/2014/main" id="{DE3C3516-C8B7-92FD-665D-6AF79206113A}"/>
                  </a:ext>
                </a:extLst>
              </p:cNvPr>
              <p:cNvSpPr/>
              <p:nvPr/>
            </p:nvSpPr>
            <p:spPr>
              <a:xfrm>
                <a:off x="6212417" y="4050362"/>
                <a:ext cx="808743" cy="636172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hteck 29">
                <a:extLst>
                  <a:ext uri="{FF2B5EF4-FFF2-40B4-BE49-F238E27FC236}">
                    <a16:creationId xmlns:a16="http://schemas.microsoft.com/office/drawing/2014/main" id="{425A69D2-A153-1126-5B5B-B8A4E011079F}"/>
                  </a:ext>
                </a:extLst>
              </p:cNvPr>
              <p:cNvSpPr/>
              <p:nvPr/>
            </p:nvSpPr>
            <p:spPr>
              <a:xfrm>
                <a:off x="6320629" y="3835936"/>
                <a:ext cx="591848" cy="1285948"/>
              </a:xfrm>
              <a:prstGeom prst="rect">
                <a:avLst/>
              </a:prstGeom>
              <a:solidFill>
                <a:srgbClr val="7891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 dirty="0"/>
              </a:p>
            </p:txBody>
          </p:sp>
          <p:sp>
            <p:nvSpPr>
              <p:cNvPr id="33" name="Rechteck 28">
                <a:extLst>
                  <a:ext uri="{FF2B5EF4-FFF2-40B4-BE49-F238E27FC236}">
                    <a16:creationId xmlns:a16="http://schemas.microsoft.com/office/drawing/2014/main" id="{C0461D4B-D6A7-FDC9-045C-D023400C23A1}"/>
                  </a:ext>
                </a:extLst>
              </p:cNvPr>
              <p:cNvSpPr/>
              <p:nvPr/>
            </p:nvSpPr>
            <p:spPr>
              <a:xfrm>
                <a:off x="5834150" y="3881721"/>
                <a:ext cx="2321405" cy="804812"/>
              </a:xfrm>
              <a:prstGeom prst="rect">
                <a:avLst/>
              </a:prstGeom>
              <a:solidFill>
                <a:schemeClr val="accent2">
                  <a:lumMod val="75000"/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hteck 30">
                <a:extLst>
                  <a:ext uri="{FF2B5EF4-FFF2-40B4-BE49-F238E27FC236}">
                    <a16:creationId xmlns:a16="http://schemas.microsoft.com/office/drawing/2014/main" id="{1D46D97A-6741-7C1F-FDC7-0BC4E0B0E194}"/>
                  </a:ext>
                </a:extLst>
              </p:cNvPr>
              <p:cNvSpPr/>
              <p:nvPr/>
            </p:nvSpPr>
            <p:spPr>
              <a:xfrm>
                <a:off x="5903979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/>
                  <a:t>S</a:t>
                </a:r>
                <a:endParaRPr lang="de-DE" sz="1200" dirty="0"/>
              </a:p>
            </p:txBody>
          </p:sp>
          <p:sp>
            <p:nvSpPr>
              <p:cNvPr id="36" name="Rechteck 31">
                <a:extLst>
                  <a:ext uri="{FF2B5EF4-FFF2-40B4-BE49-F238E27FC236}">
                    <a16:creationId xmlns:a16="http://schemas.microsoft.com/office/drawing/2014/main" id="{4CEDF81A-82FF-7AA6-78CD-A2EF9CBD317C}"/>
                  </a:ext>
                </a:extLst>
              </p:cNvPr>
              <p:cNvSpPr/>
              <p:nvPr/>
            </p:nvSpPr>
            <p:spPr>
              <a:xfrm>
                <a:off x="7097141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/>
                  <a:t>D</a:t>
                </a:r>
                <a:endParaRPr lang="de-DE" sz="1200" dirty="0"/>
              </a:p>
            </p:txBody>
          </p:sp>
          <p:sp>
            <p:nvSpPr>
              <p:cNvPr id="37" name="Rechteck 32">
                <a:extLst>
                  <a:ext uri="{FF2B5EF4-FFF2-40B4-BE49-F238E27FC236}">
                    <a16:creationId xmlns:a16="http://schemas.microsoft.com/office/drawing/2014/main" id="{F8601D1E-F70F-E45A-DB3A-2E598E9F22FF}"/>
                  </a:ext>
                </a:extLst>
              </p:cNvPr>
              <p:cNvSpPr/>
              <p:nvPr/>
            </p:nvSpPr>
            <p:spPr>
              <a:xfrm>
                <a:off x="6500560" y="4925847"/>
                <a:ext cx="231985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/>
                  <a:t>G</a:t>
                </a:r>
                <a:endParaRPr lang="de-DE" sz="1200" dirty="0"/>
              </a:p>
            </p:txBody>
          </p:sp>
          <p:cxnSp>
            <p:nvCxnSpPr>
              <p:cNvPr id="38" name="Gerade Verbindung mit Pfeil 35">
                <a:extLst>
                  <a:ext uri="{FF2B5EF4-FFF2-40B4-BE49-F238E27FC236}">
                    <a16:creationId xmlns:a16="http://schemas.microsoft.com/office/drawing/2014/main" id="{BA46F8A4-7414-6DBB-3BAD-4F3892633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8952" y="4624085"/>
                <a:ext cx="418329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 Verbindung mit Pfeil 36">
                <a:extLst>
                  <a:ext uri="{FF2B5EF4-FFF2-40B4-BE49-F238E27FC236}">
                    <a16:creationId xmlns:a16="http://schemas.microsoft.com/office/drawing/2014/main" id="{C2FBB669-8970-632F-758F-F9C8130673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8952" y="4050362"/>
                <a:ext cx="0" cy="573723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hteck 42">
                <a:extLst>
                  <a:ext uri="{FF2B5EF4-FFF2-40B4-BE49-F238E27FC236}">
                    <a16:creationId xmlns:a16="http://schemas.microsoft.com/office/drawing/2014/main" id="{247E7303-2BAA-4A86-3D0C-AE7EEBBAF23B}"/>
                  </a:ext>
                </a:extLst>
              </p:cNvPr>
              <p:cNvSpPr/>
              <p:nvPr/>
            </p:nvSpPr>
            <p:spPr>
              <a:xfrm>
                <a:off x="6395998" y="4178435"/>
                <a:ext cx="485509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>
                    <a:solidFill>
                      <a:schemeClr val="bg1"/>
                    </a:solidFill>
                  </a:rPr>
                  <a:t>W</a:t>
                </a:r>
                <a:r>
                  <a:rPr lang="de-DE" sz="1200" baseline="-25000">
                    <a:solidFill>
                      <a:schemeClr val="bg1"/>
                    </a:solidFill>
                  </a:rPr>
                  <a:t>ch</a:t>
                </a:r>
                <a:endParaRPr lang="de-DE" sz="1200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Rechteck 43">
                <a:extLst>
                  <a:ext uri="{FF2B5EF4-FFF2-40B4-BE49-F238E27FC236}">
                    <a16:creationId xmlns:a16="http://schemas.microsoft.com/office/drawing/2014/main" id="{49EE88E1-96FB-A0A8-DA57-135677216A5E}"/>
                  </a:ext>
                </a:extLst>
              </p:cNvPr>
              <p:cNvSpPr/>
              <p:nvPr/>
            </p:nvSpPr>
            <p:spPr>
              <a:xfrm>
                <a:off x="6454353" y="4405155"/>
                <a:ext cx="427722" cy="1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>
                    <a:solidFill>
                      <a:schemeClr val="bg1"/>
                    </a:solidFill>
                  </a:rPr>
                  <a:t>L</a:t>
                </a:r>
                <a:r>
                  <a:rPr lang="de-DE" sz="1200" baseline="-25000">
                    <a:solidFill>
                      <a:schemeClr val="bg1"/>
                    </a:solidFill>
                  </a:rPr>
                  <a:t>ch</a:t>
                </a:r>
                <a:endParaRPr lang="de-DE" sz="1200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Rechteck 11">
                <a:extLst>
                  <a:ext uri="{FF2B5EF4-FFF2-40B4-BE49-F238E27FC236}">
                    <a16:creationId xmlns:a16="http://schemas.microsoft.com/office/drawing/2014/main" id="{51391EED-BB23-EB34-4826-64019AEBC149}"/>
                  </a:ext>
                </a:extLst>
              </p:cNvPr>
              <p:cNvSpPr/>
              <p:nvPr/>
            </p:nvSpPr>
            <p:spPr>
              <a:xfrm>
                <a:off x="7616251" y="3995994"/>
                <a:ext cx="427045" cy="406611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200"/>
              </a:p>
            </p:txBody>
          </p:sp>
          <p:grpSp>
            <p:nvGrpSpPr>
              <p:cNvPr id="43" name="Gruppieren 14">
                <a:extLst>
                  <a:ext uri="{FF2B5EF4-FFF2-40B4-BE49-F238E27FC236}">
                    <a16:creationId xmlns:a16="http://schemas.microsoft.com/office/drawing/2014/main" id="{A0CED0BF-DB76-6AF1-F6EE-A41C3E6716ED}"/>
                  </a:ext>
                </a:extLst>
              </p:cNvPr>
              <p:cNvGrpSpPr/>
              <p:nvPr/>
            </p:nvGrpSpPr>
            <p:grpSpPr>
              <a:xfrm>
                <a:off x="7673472" y="3551524"/>
                <a:ext cx="312603" cy="1473643"/>
                <a:chOff x="5538925" y="3230425"/>
                <a:chExt cx="527050" cy="2294075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44" name="Rechteck: obere Ecken abgeschnitten 7">
                  <a:extLst>
                    <a:ext uri="{FF2B5EF4-FFF2-40B4-BE49-F238E27FC236}">
                      <a16:creationId xmlns:a16="http://schemas.microsoft.com/office/drawing/2014/main" id="{016E983A-FF2B-3147-1641-4338F613111A}"/>
                    </a:ext>
                  </a:extLst>
                </p:cNvPr>
                <p:cNvSpPr/>
                <p:nvPr/>
              </p:nvSpPr>
              <p:spPr>
                <a:xfrm>
                  <a:off x="5538925" y="5041900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  <p:sp>
              <p:nvSpPr>
                <p:cNvPr id="45" name="Rechteck 9">
                  <a:extLst>
                    <a:ext uri="{FF2B5EF4-FFF2-40B4-BE49-F238E27FC236}">
                      <a16:creationId xmlns:a16="http://schemas.microsoft.com/office/drawing/2014/main" id="{CD78D780-9D42-A2B0-B082-21570DF67FEA}"/>
                    </a:ext>
                  </a:extLst>
                </p:cNvPr>
                <p:cNvSpPr/>
                <p:nvPr/>
              </p:nvSpPr>
              <p:spPr>
                <a:xfrm>
                  <a:off x="5757275" y="3713025"/>
                  <a:ext cx="90350" cy="1328875"/>
                </a:xfrm>
                <a:prstGeom prst="rect">
                  <a:avLst/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  <p:sp>
              <p:nvSpPr>
                <p:cNvPr id="46" name="Rechteck: obere Ecken abgeschnitten 13">
                  <a:extLst>
                    <a:ext uri="{FF2B5EF4-FFF2-40B4-BE49-F238E27FC236}">
                      <a16:creationId xmlns:a16="http://schemas.microsoft.com/office/drawing/2014/main" id="{063296FA-B208-3033-2013-6EB2FA6D3E43}"/>
                    </a:ext>
                  </a:extLst>
                </p:cNvPr>
                <p:cNvSpPr/>
                <p:nvPr/>
              </p:nvSpPr>
              <p:spPr>
                <a:xfrm rot="10800000">
                  <a:off x="5538925" y="3230425"/>
                  <a:ext cx="527050" cy="482600"/>
                </a:xfrm>
                <a:prstGeom prst="snip2SameRect">
                  <a:avLst>
                    <a:gd name="adj1" fmla="val 35526"/>
                    <a:gd name="adj2" fmla="val 0"/>
                  </a:avLst>
                </a:prstGeom>
                <a:solidFill>
                  <a:srgbClr val="7891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E18071F-710E-3435-F1DA-4D68BED9F0FC}"/>
                  </a:ext>
                </a:extLst>
              </p:cNvPr>
              <p:cNvSpPr txBox="1"/>
              <p:nvPr/>
            </p:nvSpPr>
            <p:spPr>
              <a:xfrm>
                <a:off x="6612159" y="2598313"/>
                <a:ext cx="666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(b)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48A1015-3E20-520E-CE82-11F7B919AC3C}"/>
                  </a:ext>
                </a:extLst>
              </p:cNvPr>
              <p:cNvSpPr txBox="1"/>
              <p:nvPr/>
            </p:nvSpPr>
            <p:spPr>
              <a:xfrm>
                <a:off x="7651750" y="5023866"/>
                <a:ext cx="6667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TE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8F38530-F656-D336-B512-42514C677E70}"/>
                  </a:ext>
                </a:extLst>
              </p:cNvPr>
              <p:cNvSpPr txBox="1"/>
              <p:nvPr/>
            </p:nvSpPr>
            <p:spPr>
              <a:xfrm>
                <a:off x="8222357" y="3796462"/>
                <a:ext cx="54052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BE</a:t>
                </a:r>
              </a:p>
            </p:txBody>
          </p:sp>
        </p:grpSp>
        <p:sp>
          <p:nvSpPr>
            <p:cNvPr id="71" name="Rechteck 15">
              <a:extLst>
                <a:ext uri="{FF2B5EF4-FFF2-40B4-BE49-F238E27FC236}">
                  <a16:creationId xmlns:a16="http://schemas.microsoft.com/office/drawing/2014/main" id="{DDA416F1-95FC-4570-FCA3-24E23810FC08}"/>
                </a:ext>
              </a:extLst>
            </p:cNvPr>
            <p:cNvSpPr/>
            <p:nvPr/>
          </p:nvSpPr>
          <p:spPr>
            <a:xfrm>
              <a:off x="3208383" y="3547416"/>
              <a:ext cx="379317" cy="706304"/>
            </a:xfrm>
            <a:prstGeom prst="rect">
              <a:avLst/>
            </a:prstGeom>
            <a:solidFill>
              <a:srgbClr val="D25555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dirty="0"/>
            </a:p>
          </p:txBody>
        </p:sp>
        <p:sp>
          <p:nvSpPr>
            <p:cNvPr id="4" name="Rechteck 15">
              <a:extLst>
                <a:ext uri="{FF2B5EF4-FFF2-40B4-BE49-F238E27FC236}">
                  <a16:creationId xmlns:a16="http://schemas.microsoft.com/office/drawing/2014/main" id="{A02AB37B-E8E0-4A54-5851-51419DBE3EE6}"/>
                </a:ext>
              </a:extLst>
            </p:cNvPr>
            <p:cNvSpPr/>
            <p:nvPr/>
          </p:nvSpPr>
          <p:spPr>
            <a:xfrm>
              <a:off x="3563406" y="3483687"/>
              <a:ext cx="146839" cy="760760"/>
            </a:xfrm>
            <a:prstGeom prst="rect">
              <a:avLst/>
            </a:prstGeom>
            <a:solidFill>
              <a:srgbClr val="7891D7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/>
            </a:p>
          </p:txBody>
        </p:sp>
        <p:sp>
          <p:nvSpPr>
            <p:cNvPr id="76" name="Rechteck 15">
              <a:extLst>
                <a:ext uri="{FF2B5EF4-FFF2-40B4-BE49-F238E27FC236}">
                  <a16:creationId xmlns:a16="http://schemas.microsoft.com/office/drawing/2014/main" id="{70352CC0-7BA9-C248-AEBE-D7526D47CA37}"/>
                </a:ext>
              </a:extLst>
            </p:cNvPr>
            <p:cNvSpPr/>
            <p:nvPr/>
          </p:nvSpPr>
          <p:spPr>
            <a:xfrm>
              <a:off x="1249855" y="3536309"/>
              <a:ext cx="137585" cy="814733"/>
            </a:xfrm>
            <a:prstGeom prst="rect">
              <a:avLst/>
            </a:prstGeom>
            <a:solidFill>
              <a:srgbClr val="7891D7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/>
            </a:p>
          </p:txBody>
        </p:sp>
        <p:sp>
          <p:nvSpPr>
            <p:cNvPr id="3" name="Rechteck 15">
              <a:extLst>
                <a:ext uri="{FF2B5EF4-FFF2-40B4-BE49-F238E27FC236}">
                  <a16:creationId xmlns:a16="http://schemas.microsoft.com/office/drawing/2014/main" id="{4388D54E-F5E4-6F46-8A79-6D78B7191346}"/>
                </a:ext>
              </a:extLst>
            </p:cNvPr>
            <p:cNvSpPr/>
            <p:nvPr/>
          </p:nvSpPr>
          <p:spPr>
            <a:xfrm>
              <a:off x="1024122" y="4201360"/>
              <a:ext cx="423285" cy="143666"/>
            </a:xfrm>
            <a:prstGeom prst="rect">
              <a:avLst/>
            </a:prstGeom>
            <a:solidFill>
              <a:srgbClr val="D25555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/>
                <a:t>      </a:t>
              </a:r>
              <a:endParaRPr lang="de-DE" sz="700" dirty="0"/>
            </a:p>
          </p:txBody>
        </p:sp>
        <p:sp>
          <p:nvSpPr>
            <p:cNvPr id="20" name="Rechteck 15">
              <a:extLst>
                <a:ext uri="{FF2B5EF4-FFF2-40B4-BE49-F238E27FC236}">
                  <a16:creationId xmlns:a16="http://schemas.microsoft.com/office/drawing/2014/main" id="{7C3E13F7-C21E-82FA-5478-0074828269B5}"/>
                </a:ext>
              </a:extLst>
            </p:cNvPr>
            <p:cNvSpPr/>
            <p:nvPr/>
          </p:nvSpPr>
          <p:spPr>
            <a:xfrm>
              <a:off x="3563568" y="3927501"/>
              <a:ext cx="1572378" cy="326219"/>
            </a:xfrm>
            <a:prstGeom prst="rect">
              <a:avLst/>
            </a:prstGeom>
            <a:solidFill>
              <a:srgbClr val="7891D7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/>
                <a:t>           </a:t>
              </a:r>
              <a:r>
                <a:rPr lang="de-DE" sz="1400" b="1" dirty="0"/>
                <a:t>Pt</a:t>
              </a:r>
            </a:p>
          </p:txBody>
        </p:sp>
        <p:sp>
          <p:nvSpPr>
            <p:cNvPr id="21" name="Rechteck 15">
              <a:extLst>
                <a:ext uri="{FF2B5EF4-FFF2-40B4-BE49-F238E27FC236}">
                  <a16:creationId xmlns:a16="http://schemas.microsoft.com/office/drawing/2014/main" id="{C8008646-E8E8-FE96-B3ED-F2D987FCABB4}"/>
                </a:ext>
              </a:extLst>
            </p:cNvPr>
            <p:cNvSpPr/>
            <p:nvPr/>
          </p:nvSpPr>
          <p:spPr>
            <a:xfrm>
              <a:off x="3481453" y="4232430"/>
              <a:ext cx="1654492" cy="124622"/>
            </a:xfrm>
            <a:prstGeom prst="rect">
              <a:avLst/>
            </a:prstGeom>
            <a:solidFill>
              <a:srgbClr val="D25555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                        Ti</a:t>
              </a:r>
            </a:p>
          </p:txBody>
        </p:sp>
        <p:sp>
          <p:nvSpPr>
            <p:cNvPr id="75" name="Rechteck 15">
              <a:extLst>
                <a:ext uri="{FF2B5EF4-FFF2-40B4-BE49-F238E27FC236}">
                  <a16:creationId xmlns:a16="http://schemas.microsoft.com/office/drawing/2014/main" id="{32DB7A28-7E2F-E776-0394-C321F298D81A}"/>
                </a:ext>
              </a:extLst>
            </p:cNvPr>
            <p:cNvSpPr/>
            <p:nvPr/>
          </p:nvSpPr>
          <p:spPr>
            <a:xfrm>
              <a:off x="1366834" y="3551784"/>
              <a:ext cx="276867" cy="807145"/>
            </a:xfrm>
            <a:prstGeom prst="rect">
              <a:avLst/>
            </a:prstGeom>
            <a:solidFill>
              <a:srgbClr val="D25555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700" dirty="0"/>
            </a:p>
          </p:txBody>
        </p:sp>
        <p:sp>
          <p:nvSpPr>
            <p:cNvPr id="57" name="Rechteck 8">
              <a:extLst>
                <a:ext uri="{FF2B5EF4-FFF2-40B4-BE49-F238E27FC236}">
                  <a16:creationId xmlns:a16="http://schemas.microsoft.com/office/drawing/2014/main" id="{549B846E-F72D-C131-0DBC-70D86E2A84D9}"/>
                </a:ext>
              </a:extLst>
            </p:cNvPr>
            <p:cNvSpPr/>
            <p:nvPr/>
          </p:nvSpPr>
          <p:spPr>
            <a:xfrm>
              <a:off x="1454693" y="3855640"/>
              <a:ext cx="214821" cy="50003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6" name="Rechteck 8">
              <a:extLst>
                <a:ext uri="{FF2B5EF4-FFF2-40B4-BE49-F238E27FC236}">
                  <a16:creationId xmlns:a16="http://schemas.microsoft.com/office/drawing/2014/main" id="{A2BFFC6F-F7DC-8F74-4CE2-756780F76193}"/>
                </a:ext>
              </a:extLst>
            </p:cNvPr>
            <p:cNvSpPr/>
            <p:nvPr/>
          </p:nvSpPr>
          <p:spPr>
            <a:xfrm>
              <a:off x="3286551" y="3857340"/>
              <a:ext cx="201448" cy="51569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hteck 8">
              <a:extLst>
                <a:ext uri="{FF2B5EF4-FFF2-40B4-BE49-F238E27FC236}">
                  <a16:creationId xmlns:a16="http://schemas.microsoft.com/office/drawing/2014/main" id="{607B019C-BA1F-8D7F-350C-F0EA35D1CEEB}"/>
                </a:ext>
              </a:extLst>
            </p:cNvPr>
            <p:cNvSpPr/>
            <p:nvPr/>
          </p:nvSpPr>
          <p:spPr>
            <a:xfrm>
              <a:off x="3244800" y="4352654"/>
              <a:ext cx="1891146" cy="20679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A174642-3376-0F4F-2020-B4FA2899EFB8}"/>
                </a:ext>
              </a:extLst>
            </p:cNvPr>
            <p:cNvSpPr/>
            <p:nvPr/>
          </p:nvSpPr>
          <p:spPr>
            <a:xfrm>
              <a:off x="1249855" y="3243775"/>
              <a:ext cx="520589" cy="310192"/>
            </a:xfrm>
            <a:prstGeom prst="rect">
              <a:avLst/>
            </a:prstGeom>
            <a:solidFill>
              <a:srgbClr val="7891D7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>
                  <a:solidFill>
                    <a:schemeClr val="bg1"/>
                  </a:solidFill>
                </a:rPr>
                <a:t>  Pt</a:t>
              </a:r>
            </a:p>
          </p:txBody>
        </p:sp>
        <p:sp>
          <p:nvSpPr>
            <p:cNvPr id="8" name="Rechteck 8">
              <a:extLst>
                <a:ext uri="{FF2B5EF4-FFF2-40B4-BE49-F238E27FC236}">
                  <a16:creationId xmlns:a16="http://schemas.microsoft.com/office/drawing/2014/main" id="{5B3672BE-E72B-6513-ED3C-C19329D08F6F}"/>
                </a:ext>
              </a:extLst>
            </p:cNvPr>
            <p:cNvSpPr/>
            <p:nvPr/>
          </p:nvSpPr>
          <p:spPr>
            <a:xfrm>
              <a:off x="1024123" y="4340234"/>
              <a:ext cx="675169" cy="2206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>
                <a:solidFill>
                  <a:schemeClr val="bg1"/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D50F9D7-489F-9DF6-B239-31801D67166A}"/>
                </a:ext>
              </a:extLst>
            </p:cNvPr>
            <p:cNvSpPr/>
            <p:nvPr/>
          </p:nvSpPr>
          <p:spPr>
            <a:xfrm>
              <a:off x="1455656" y="3851006"/>
              <a:ext cx="2032343" cy="21287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Al₂O₃</a:t>
              </a:r>
            </a:p>
          </p:txBody>
        </p:sp>
        <p:sp>
          <p:nvSpPr>
            <p:cNvPr id="11" name="Rechteck 12">
              <a:extLst>
                <a:ext uri="{FF2B5EF4-FFF2-40B4-BE49-F238E27FC236}">
                  <a16:creationId xmlns:a16="http://schemas.microsoft.com/office/drawing/2014/main" id="{9576187D-52EB-B048-AA61-2B99D7994082}"/>
                </a:ext>
              </a:extLst>
            </p:cNvPr>
            <p:cNvSpPr/>
            <p:nvPr/>
          </p:nvSpPr>
          <p:spPr>
            <a:xfrm>
              <a:off x="1455657" y="3645974"/>
              <a:ext cx="2032342" cy="206795"/>
            </a:xfrm>
            <a:prstGeom prst="rect">
              <a:avLst/>
            </a:prstGeom>
            <a:solidFill>
              <a:srgbClr val="F2D90D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>
                  <a:solidFill>
                    <a:schemeClr val="bg1"/>
                  </a:solidFill>
                </a:rPr>
                <a:t>IGZO</a:t>
              </a:r>
            </a:p>
          </p:txBody>
        </p:sp>
        <p:sp>
          <p:nvSpPr>
            <p:cNvPr id="13" name="Rechteck 15">
              <a:extLst>
                <a:ext uri="{FF2B5EF4-FFF2-40B4-BE49-F238E27FC236}">
                  <a16:creationId xmlns:a16="http://schemas.microsoft.com/office/drawing/2014/main" id="{95F9442A-71A6-DB9C-6B89-217907B2696D}"/>
                </a:ext>
              </a:extLst>
            </p:cNvPr>
            <p:cNvSpPr/>
            <p:nvPr/>
          </p:nvSpPr>
          <p:spPr>
            <a:xfrm>
              <a:off x="1663818" y="4059563"/>
              <a:ext cx="1624579" cy="407076"/>
            </a:xfrm>
            <a:prstGeom prst="rect">
              <a:avLst/>
            </a:prstGeom>
            <a:solidFill>
              <a:srgbClr val="7891D7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Pt</a:t>
              </a:r>
            </a:p>
          </p:txBody>
        </p:sp>
        <p:sp>
          <p:nvSpPr>
            <p:cNvPr id="15" name="Rechteck 15">
              <a:extLst>
                <a:ext uri="{FF2B5EF4-FFF2-40B4-BE49-F238E27FC236}">
                  <a16:creationId xmlns:a16="http://schemas.microsoft.com/office/drawing/2014/main" id="{68395341-339B-3046-C5C3-9E281BEF5B2D}"/>
                </a:ext>
              </a:extLst>
            </p:cNvPr>
            <p:cNvSpPr/>
            <p:nvPr/>
          </p:nvSpPr>
          <p:spPr>
            <a:xfrm>
              <a:off x="1663818" y="4462627"/>
              <a:ext cx="1624579" cy="103397"/>
            </a:xfrm>
            <a:prstGeom prst="rect">
              <a:avLst/>
            </a:prstGeom>
            <a:solidFill>
              <a:srgbClr val="D25555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Ti</a:t>
              </a:r>
            </a:p>
          </p:txBody>
        </p:sp>
        <p:sp>
          <p:nvSpPr>
            <p:cNvPr id="18" name="Rechteck 15">
              <a:extLst>
                <a:ext uri="{FF2B5EF4-FFF2-40B4-BE49-F238E27FC236}">
                  <a16:creationId xmlns:a16="http://schemas.microsoft.com/office/drawing/2014/main" id="{3B32623B-D80A-A4A4-CCD3-3311DD9A778E}"/>
                </a:ext>
              </a:extLst>
            </p:cNvPr>
            <p:cNvSpPr/>
            <p:nvPr/>
          </p:nvSpPr>
          <p:spPr>
            <a:xfrm>
              <a:off x="3176077" y="3248983"/>
              <a:ext cx="534169" cy="316616"/>
            </a:xfrm>
            <a:prstGeom prst="rect">
              <a:avLst/>
            </a:prstGeom>
            <a:solidFill>
              <a:srgbClr val="7891D7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Pt</a:t>
              </a:r>
            </a:p>
          </p:txBody>
        </p:sp>
        <p:sp>
          <p:nvSpPr>
            <p:cNvPr id="17" name="Rechteck 15">
              <a:extLst>
                <a:ext uri="{FF2B5EF4-FFF2-40B4-BE49-F238E27FC236}">
                  <a16:creationId xmlns:a16="http://schemas.microsoft.com/office/drawing/2014/main" id="{154D7AFB-6235-486A-FDFC-A755F50610E8}"/>
                </a:ext>
              </a:extLst>
            </p:cNvPr>
            <p:cNvSpPr/>
            <p:nvPr/>
          </p:nvSpPr>
          <p:spPr>
            <a:xfrm>
              <a:off x="1366834" y="3551784"/>
              <a:ext cx="403610" cy="98672"/>
            </a:xfrm>
            <a:prstGeom prst="rect">
              <a:avLst/>
            </a:prstGeom>
            <a:solidFill>
              <a:srgbClr val="D25555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Ti</a:t>
              </a:r>
            </a:p>
          </p:txBody>
        </p:sp>
        <p:sp>
          <p:nvSpPr>
            <p:cNvPr id="22" name="Rechteck 12">
              <a:extLst>
                <a:ext uri="{FF2B5EF4-FFF2-40B4-BE49-F238E27FC236}">
                  <a16:creationId xmlns:a16="http://schemas.microsoft.com/office/drawing/2014/main" id="{4C2C2DE5-3A1C-0892-5E00-7485B0C501C5}"/>
                </a:ext>
              </a:extLst>
            </p:cNvPr>
            <p:cNvSpPr/>
            <p:nvPr/>
          </p:nvSpPr>
          <p:spPr>
            <a:xfrm>
              <a:off x="4118586" y="3720607"/>
              <a:ext cx="941240" cy="206795"/>
            </a:xfrm>
            <a:prstGeom prst="rect">
              <a:avLst/>
            </a:prstGeom>
            <a:solidFill>
              <a:srgbClr val="F2D90D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>
                  <a:solidFill>
                    <a:schemeClr val="bg1"/>
                  </a:solidFill>
                </a:rPr>
                <a:t>IGZO</a:t>
              </a:r>
            </a:p>
          </p:txBody>
        </p:sp>
        <p:sp>
          <p:nvSpPr>
            <p:cNvPr id="73" name="Rechteck 15">
              <a:extLst>
                <a:ext uri="{FF2B5EF4-FFF2-40B4-BE49-F238E27FC236}">
                  <a16:creationId xmlns:a16="http://schemas.microsoft.com/office/drawing/2014/main" id="{DE829E34-4CC5-C046-81C4-D6D46E0FB978}"/>
                </a:ext>
              </a:extLst>
            </p:cNvPr>
            <p:cNvSpPr/>
            <p:nvPr/>
          </p:nvSpPr>
          <p:spPr>
            <a:xfrm>
              <a:off x="4118653" y="3319200"/>
              <a:ext cx="942087" cy="310192"/>
            </a:xfrm>
            <a:prstGeom prst="rect">
              <a:avLst/>
            </a:prstGeom>
            <a:solidFill>
              <a:srgbClr val="7891D7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Pt</a:t>
              </a:r>
            </a:p>
          </p:txBody>
        </p:sp>
        <p:sp>
          <p:nvSpPr>
            <p:cNvPr id="74" name="Rechteck 15">
              <a:extLst>
                <a:ext uri="{FF2B5EF4-FFF2-40B4-BE49-F238E27FC236}">
                  <a16:creationId xmlns:a16="http://schemas.microsoft.com/office/drawing/2014/main" id="{FA6A777F-A677-0540-1610-1D425257F67B}"/>
                </a:ext>
              </a:extLst>
            </p:cNvPr>
            <p:cNvSpPr/>
            <p:nvPr/>
          </p:nvSpPr>
          <p:spPr>
            <a:xfrm>
              <a:off x="4118586" y="3619441"/>
              <a:ext cx="942088" cy="103397"/>
            </a:xfrm>
            <a:prstGeom prst="rect">
              <a:avLst/>
            </a:prstGeom>
            <a:solidFill>
              <a:srgbClr val="D25555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Ti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598200-49C9-5C34-214C-4BE9E52F13F4}"/>
                </a:ext>
              </a:extLst>
            </p:cNvPr>
            <p:cNvSpPr txBox="1"/>
            <p:nvPr/>
          </p:nvSpPr>
          <p:spPr>
            <a:xfrm>
              <a:off x="2280655" y="2614010"/>
              <a:ext cx="523518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FF3366-B47D-16AB-DEA0-A5486B4ED4F6}"/>
                </a:ext>
              </a:extLst>
            </p:cNvPr>
            <p:cNvSpPr txBox="1"/>
            <p:nvPr/>
          </p:nvSpPr>
          <p:spPr>
            <a:xfrm>
              <a:off x="1356938" y="2892045"/>
              <a:ext cx="344088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570E73-FB38-2BAC-F5B7-59E11F6CC245}"/>
                </a:ext>
              </a:extLst>
            </p:cNvPr>
            <p:cNvSpPr txBox="1"/>
            <p:nvPr/>
          </p:nvSpPr>
          <p:spPr>
            <a:xfrm>
              <a:off x="3273791" y="2894605"/>
              <a:ext cx="344088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BC7E56-0474-B6A5-F951-E61C9F3C48BC}"/>
                </a:ext>
              </a:extLst>
            </p:cNvPr>
            <p:cNvSpPr txBox="1"/>
            <p:nvPr/>
          </p:nvSpPr>
          <p:spPr>
            <a:xfrm>
              <a:off x="4322964" y="2916821"/>
              <a:ext cx="508895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TE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A510DEB-401A-78FE-FC39-0347EF14415C}"/>
                </a:ext>
              </a:extLst>
            </p:cNvPr>
            <p:cNvSpPr txBox="1"/>
            <p:nvPr/>
          </p:nvSpPr>
          <p:spPr>
            <a:xfrm>
              <a:off x="5056738" y="3939395"/>
              <a:ext cx="632373" cy="41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BE</a:t>
              </a:r>
            </a:p>
          </p:txBody>
        </p:sp>
        <p:sp>
          <p:nvSpPr>
            <p:cNvPr id="67" name="Rechteck 15">
              <a:extLst>
                <a:ext uri="{FF2B5EF4-FFF2-40B4-BE49-F238E27FC236}">
                  <a16:creationId xmlns:a16="http://schemas.microsoft.com/office/drawing/2014/main" id="{6264FFBF-552D-4CA2-E141-A3135C4D7EFF}"/>
                </a:ext>
              </a:extLst>
            </p:cNvPr>
            <p:cNvSpPr/>
            <p:nvPr/>
          </p:nvSpPr>
          <p:spPr>
            <a:xfrm>
              <a:off x="3176076" y="3547416"/>
              <a:ext cx="387330" cy="98672"/>
            </a:xfrm>
            <a:prstGeom prst="rect">
              <a:avLst/>
            </a:prstGeom>
            <a:solidFill>
              <a:srgbClr val="D25555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  Ti</a:t>
              </a:r>
            </a:p>
          </p:txBody>
        </p:sp>
        <p:sp>
          <p:nvSpPr>
            <p:cNvPr id="5" name="Rechteck 15">
              <a:extLst>
                <a:ext uri="{FF2B5EF4-FFF2-40B4-BE49-F238E27FC236}">
                  <a16:creationId xmlns:a16="http://schemas.microsoft.com/office/drawing/2014/main" id="{A70B43E6-AC93-858F-D441-81F79A24ECAB}"/>
                </a:ext>
              </a:extLst>
            </p:cNvPr>
            <p:cNvSpPr/>
            <p:nvPr/>
          </p:nvSpPr>
          <p:spPr>
            <a:xfrm>
              <a:off x="1023371" y="3896488"/>
              <a:ext cx="345469" cy="310192"/>
            </a:xfrm>
            <a:prstGeom prst="rect">
              <a:avLst/>
            </a:prstGeom>
            <a:solidFill>
              <a:srgbClr val="7891D7"/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/>
            </a:p>
          </p:txBody>
        </p:sp>
        <p:sp>
          <p:nvSpPr>
            <p:cNvPr id="6" name="Rechteck 3">
              <a:extLst>
                <a:ext uri="{FF2B5EF4-FFF2-40B4-BE49-F238E27FC236}">
                  <a16:creationId xmlns:a16="http://schemas.microsoft.com/office/drawing/2014/main" id="{69B44FD1-99C5-1411-3B38-73A7EF8AD3FF}"/>
                </a:ext>
              </a:extLst>
            </p:cNvPr>
            <p:cNvSpPr/>
            <p:nvPr/>
          </p:nvSpPr>
          <p:spPr>
            <a:xfrm>
              <a:off x="1024122" y="4626530"/>
              <a:ext cx="4111823" cy="5600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Si/SiO</a:t>
              </a:r>
              <a:r>
                <a:rPr lang="de-DE" b="1" baseline="-25000" dirty="0">
                  <a:solidFill>
                    <a:schemeClr val="tx1"/>
                  </a:solidFill>
                </a:rPr>
                <a:t>2</a:t>
              </a:r>
              <a:r>
                <a:rPr lang="de-DE" b="1" dirty="0">
                  <a:solidFill>
                    <a:schemeClr val="tx1"/>
                  </a:solidFill>
                </a:rPr>
                <a:t> substrate</a:t>
              </a:r>
            </a:p>
          </p:txBody>
        </p:sp>
        <p:sp>
          <p:nvSpPr>
            <p:cNvPr id="7" name="Rechteck 20">
              <a:extLst>
                <a:ext uri="{FF2B5EF4-FFF2-40B4-BE49-F238E27FC236}">
                  <a16:creationId xmlns:a16="http://schemas.microsoft.com/office/drawing/2014/main" id="{4DC242E6-4240-E0E3-CB18-A061DE5A2D33}"/>
                </a:ext>
              </a:extLst>
            </p:cNvPr>
            <p:cNvSpPr/>
            <p:nvPr/>
          </p:nvSpPr>
          <p:spPr>
            <a:xfrm>
              <a:off x="1024122" y="4559281"/>
              <a:ext cx="4111823" cy="6724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6350">
              <a:solidFill>
                <a:srgbClr val="3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394A7BB-9424-33F2-FCB6-CED7B7420E2B}"/>
              </a:ext>
            </a:extLst>
          </p:cNvPr>
          <p:cNvGrpSpPr/>
          <p:nvPr/>
        </p:nvGrpSpPr>
        <p:grpSpPr>
          <a:xfrm>
            <a:off x="995818" y="1120597"/>
            <a:ext cx="4198752" cy="1712437"/>
            <a:chOff x="995818" y="1120597"/>
            <a:chExt cx="4198752" cy="1712437"/>
          </a:xfrm>
        </p:grpSpPr>
        <p:sp>
          <p:nvSpPr>
            <p:cNvPr id="19" name="Text 0">
              <a:extLst>
                <a:ext uri="{FF2B5EF4-FFF2-40B4-BE49-F238E27FC236}">
                  <a16:creationId xmlns:a16="http://schemas.microsoft.com/office/drawing/2014/main" id="{2DBBC3D7-1C83-2E35-A325-6ADFE2D776A9}"/>
                </a:ext>
              </a:extLst>
            </p:cNvPr>
            <p:cNvSpPr/>
            <p:nvPr/>
          </p:nvSpPr>
          <p:spPr>
            <a:xfrm>
              <a:off x="1157581" y="1302370"/>
              <a:ext cx="4036989" cy="1521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200" dirty="0"/>
            </a:p>
          </p:txBody>
        </p:sp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F3D82498-D9D2-42D6-75AF-A699A60A192A}"/>
                </a:ext>
              </a:extLst>
            </p:cNvPr>
            <p:cNvSpPr/>
            <p:nvPr/>
          </p:nvSpPr>
          <p:spPr>
            <a:xfrm flipH="1">
              <a:off x="2474383" y="1751814"/>
              <a:ext cx="1257" cy="470336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BC558D1A-BCCF-7109-E01F-27CED7A82EAC}"/>
                </a:ext>
              </a:extLst>
            </p:cNvPr>
            <p:cNvSpPr/>
            <p:nvPr/>
          </p:nvSpPr>
          <p:spPr>
            <a:xfrm>
              <a:off x="2085788" y="2212336"/>
              <a:ext cx="760851" cy="981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54" name="Text 8">
              <a:extLst>
                <a:ext uri="{FF2B5EF4-FFF2-40B4-BE49-F238E27FC236}">
                  <a16:creationId xmlns:a16="http://schemas.microsoft.com/office/drawing/2014/main" id="{1E54D84B-DFB0-3AE4-4E55-CB4E26051C78}"/>
                </a:ext>
              </a:extLst>
            </p:cNvPr>
            <p:cNvSpPr/>
            <p:nvPr/>
          </p:nvSpPr>
          <p:spPr>
            <a:xfrm>
              <a:off x="2409110" y="1450084"/>
              <a:ext cx="502582" cy="1156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G</a:t>
              </a:r>
              <a:endParaRPr lang="en-US" dirty="0"/>
            </a:p>
          </p:txBody>
        </p:sp>
        <p:sp>
          <p:nvSpPr>
            <p:cNvPr id="55" name="Shape 9">
              <a:extLst>
                <a:ext uri="{FF2B5EF4-FFF2-40B4-BE49-F238E27FC236}">
                  <a16:creationId xmlns:a16="http://schemas.microsoft.com/office/drawing/2014/main" id="{D6467BDE-091D-932D-07A2-EAAE8328399C}"/>
                </a:ext>
              </a:extLst>
            </p:cNvPr>
            <p:cNvSpPr/>
            <p:nvPr/>
          </p:nvSpPr>
          <p:spPr>
            <a:xfrm>
              <a:off x="2085788" y="2334411"/>
              <a:ext cx="757385" cy="704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Text 10">
              <a:extLst>
                <a:ext uri="{FF2B5EF4-FFF2-40B4-BE49-F238E27FC236}">
                  <a16:creationId xmlns:a16="http://schemas.microsoft.com/office/drawing/2014/main" id="{8E2A938C-2A11-780B-AB47-FF247CF8CEEF}"/>
                </a:ext>
              </a:extLst>
            </p:cNvPr>
            <p:cNvSpPr/>
            <p:nvPr/>
          </p:nvSpPr>
          <p:spPr>
            <a:xfrm>
              <a:off x="1175558" y="2237318"/>
              <a:ext cx="773929" cy="1218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</a:t>
              </a:r>
              <a:endParaRPr lang="en-US" dirty="0"/>
            </a:p>
          </p:txBody>
        </p:sp>
        <p:sp>
          <p:nvSpPr>
            <p:cNvPr id="60" name="Text 11">
              <a:extLst>
                <a:ext uri="{FF2B5EF4-FFF2-40B4-BE49-F238E27FC236}">
                  <a16:creationId xmlns:a16="http://schemas.microsoft.com/office/drawing/2014/main" id="{CB21E78C-8B57-EC5B-FFCE-1EE5841A15F3}"/>
                </a:ext>
              </a:extLst>
            </p:cNvPr>
            <p:cNvSpPr/>
            <p:nvPr/>
          </p:nvSpPr>
          <p:spPr>
            <a:xfrm>
              <a:off x="2981915" y="2222150"/>
              <a:ext cx="757384" cy="1403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</a:t>
              </a:r>
              <a:endParaRPr lang="en-US" dirty="0"/>
            </a:p>
          </p:txBody>
        </p:sp>
        <p:sp>
          <p:nvSpPr>
            <p:cNvPr id="61" name="Shape 12">
              <a:extLst>
                <a:ext uri="{FF2B5EF4-FFF2-40B4-BE49-F238E27FC236}">
                  <a16:creationId xmlns:a16="http://schemas.microsoft.com/office/drawing/2014/main" id="{A7287E95-9D9B-4AA5-CCE5-F73580F7A7B5}"/>
                </a:ext>
              </a:extLst>
            </p:cNvPr>
            <p:cNvSpPr/>
            <p:nvPr/>
          </p:nvSpPr>
          <p:spPr>
            <a:xfrm flipH="1">
              <a:off x="2099409" y="2309070"/>
              <a:ext cx="3466" cy="388093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63" name="Shape 13">
              <a:extLst>
                <a:ext uri="{FF2B5EF4-FFF2-40B4-BE49-F238E27FC236}">
                  <a16:creationId xmlns:a16="http://schemas.microsoft.com/office/drawing/2014/main" id="{B6B092E3-EAB8-5F60-9A81-B7F824E88494}"/>
                </a:ext>
              </a:extLst>
            </p:cNvPr>
            <p:cNvSpPr/>
            <p:nvPr/>
          </p:nvSpPr>
          <p:spPr>
            <a:xfrm>
              <a:off x="1149721" y="2679165"/>
              <a:ext cx="953153" cy="385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64" name="Shape 14">
              <a:extLst>
                <a:ext uri="{FF2B5EF4-FFF2-40B4-BE49-F238E27FC236}">
                  <a16:creationId xmlns:a16="http://schemas.microsoft.com/office/drawing/2014/main" id="{CBBB3468-8B59-4099-FF8B-C07C2BC0ADF0}"/>
                </a:ext>
              </a:extLst>
            </p:cNvPr>
            <p:cNvSpPr/>
            <p:nvPr/>
          </p:nvSpPr>
          <p:spPr>
            <a:xfrm>
              <a:off x="1139087" y="2509622"/>
              <a:ext cx="0" cy="323412"/>
            </a:xfrm>
            <a:prstGeom prst="line">
              <a:avLst/>
            </a:prstGeom>
            <a:noFill/>
            <a:ln w="69850">
              <a:solidFill>
                <a:srgbClr val="000000"/>
              </a:solidFill>
              <a:prstDash val="solid"/>
            </a:ln>
          </p:spPr>
        </p:sp>
        <p:sp>
          <p:nvSpPr>
            <p:cNvPr id="65" name="Shape 15">
              <a:extLst>
                <a:ext uri="{FF2B5EF4-FFF2-40B4-BE49-F238E27FC236}">
                  <a16:creationId xmlns:a16="http://schemas.microsoft.com/office/drawing/2014/main" id="{CD2C77DE-C4C7-F64F-206D-3893EE680731}"/>
                </a:ext>
              </a:extLst>
            </p:cNvPr>
            <p:cNvSpPr/>
            <p:nvPr/>
          </p:nvSpPr>
          <p:spPr>
            <a:xfrm>
              <a:off x="995818" y="2584044"/>
              <a:ext cx="0" cy="190242"/>
            </a:xfrm>
            <a:prstGeom prst="line">
              <a:avLst/>
            </a:prstGeom>
            <a:noFill/>
            <a:ln w="69850">
              <a:solidFill>
                <a:srgbClr val="000000"/>
              </a:solidFill>
              <a:prstDash val="solid"/>
            </a:ln>
          </p:spPr>
        </p:sp>
        <p:sp>
          <p:nvSpPr>
            <p:cNvPr id="66" name="Shape 17">
              <a:extLst>
                <a:ext uri="{FF2B5EF4-FFF2-40B4-BE49-F238E27FC236}">
                  <a16:creationId xmlns:a16="http://schemas.microsoft.com/office/drawing/2014/main" id="{D30ADAE8-C3B9-9C30-785D-4EE53A722316}"/>
                </a:ext>
              </a:extLst>
            </p:cNvPr>
            <p:cNvSpPr/>
            <p:nvPr/>
          </p:nvSpPr>
          <p:spPr>
            <a:xfrm>
              <a:off x="2825849" y="2323263"/>
              <a:ext cx="1" cy="352393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68" name="Shape 18">
              <a:extLst>
                <a:ext uri="{FF2B5EF4-FFF2-40B4-BE49-F238E27FC236}">
                  <a16:creationId xmlns:a16="http://schemas.microsoft.com/office/drawing/2014/main" id="{8E77D96B-38E9-A9E8-33C0-1973C4D7C553}"/>
                </a:ext>
              </a:extLst>
            </p:cNvPr>
            <p:cNvSpPr/>
            <p:nvPr/>
          </p:nvSpPr>
          <p:spPr>
            <a:xfrm flipV="1">
              <a:off x="2810906" y="2685169"/>
              <a:ext cx="1745060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69" name="Shape 20">
              <a:extLst>
                <a:ext uri="{FF2B5EF4-FFF2-40B4-BE49-F238E27FC236}">
                  <a16:creationId xmlns:a16="http://schemas.microsoft.com/office/drawing/2014/main" id="{EF490C6F-859B-F902-D9A8-6D39EEE51619}"/>
                </a:ext>
              </a:extLst>
            </p:cNvPr>
            <p:cNvSpPr/>
            <p:nvPr/>
          </p:nvSpPr>
          <p:spPr>
            <a:xfrm rot="10800000">
              <a:off x="4236970" y="1480855"/>
              <a:ext cx="645918" cy="874601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70" name="Shape 22">
              <a:extLst>
                <a:ext uri="{FF2B5EF4-FFF2-40B4-BE49-F238E27FC236}">
                  <a16:creationId xmlns:a16="http://schemas.microsoft.com/office/drawing/2014/main" id="{9FAAAA66-6EE5-3F11-4041-82D416672257}"/>
                </a:ext>
              </a:extLst>
            </p:cNvPr>
            <p:cNvSpPr/>
            <p:nvPr/>
          </p:nvSpPr>
          <p:spPr>
            <a:xfrm rot="10800000">
              <a:off x="4354145" y="1730648"/>
              <a:ext cx="452143" cy="0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72" name="Shape 23">
              <a:extLst>
                <a:ext uri="{FF2B5EF4-FFF2-40B4-BE49-F238E27FC236}">
                  <a16:creationId xmlns:a16="http://schemas.microsoft.com/office/drawing/2014/main" id="{C4A49B71-0698-6C08-FADE-3AA619B30F36}"/>
                </a:ext>
              </a:extLst>
            </p:cNvPr>
            <p:cNvSpPr/>
            <p:nvPr/>
          </p:nvSpPr>
          <p:spPr>
            <a:xfrm rot="10800000" flipV="1">
              <a:off x="4351341" y="2072819"/>
              <a:ext cx="465541" cy="2775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77" name="Shape 24">
              <a:extLst>
                <a:ext uri="{FF2B5EF4-FFF2-40B4-BE49-F238E27FC236}">
                  <a16:creationId xmlns:a16="http://schemas.microsoft.com/office/drawing/2014/main" id="{B037EB25-0888-0FFC-9752-734D7AD13155}"/>
                </a:ext>
              </a:extLst>
            </p:cNvPr>
            <p:cNvSpPr/>
            <p:nvPr/>
          </p:nvSpPr>
          <p:spPr>
            <a:xfrm rot="10800000" flipV="1">
              <a:off x="4515264" y="2247436"/>
              <a:ext cx="301623" cy="2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78" name="Shape 25">
              <a:extLst>
                <a:ext uri="{FF2B5EF4-FFF2-40B4-BE49-F238E27FC236}">
                  <a16:creationId xmlns:a16="http://schemas.microsoft.com/office/drawing/2014/main" id="{60F7F744-4363-6E18-DCCC-04AF3163BCB2}"/>
                </a:ext>
              </a:extLst>
            </p:cNvPr>
            <p:cNvSpPr/>
            <p:nvPr/>
          </p:nvSpPr>
          <p:spPr>
            <a:xfrm rot="10800000">
              <a:off x="4537043" y="2360077"/>
              <a:ext cx="0" cy="17121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2E4753-8B1D-BFC3-A94A-6F0A266267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3572" y="2360077"/>
              <a:ext cx="6937" cy="32509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cxnSp>
        <p:sp>
          <p:nvSpPr>
            <p:cNvPr id="81" name="Shape 21">
              <a:extLst>
                <a:ext uri="{FF2B5EF4-FFF2-40B4-BE49-F238E27FC236}">
                  <a16:creationId xmlns:a16="http://schemas.microsoft.com/office/drawing/2014/main" id="{32065B57-BCC3-6268-4530-837B8E99E640}"/>
                </a:ext>
              </a:extLst>
            </p:cNvPr>
            <p:cNvSpPr/>
            <p:nvPr/>
          </p:nvSpPr>
          <p:spPr>
            <a:xfrm rot="10800000">
              <a:off x="4373853" y="1882775"/>
              <a:ext cx="0" cy="190044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82" name="Shape 23">
              <a:extLst>
                <a:ext uri="{FF2B5EF4-FFF2-40B4-BE49-F238E27FC236}">
                  <a16:creationId xmlns:a16="http://schemas.microsoft.com/office/drawing/2014/main" id="{FE3EE00A-9BB7-2FA5-CEEB-CBE1997406C3}"/>
                </a:ext>
              </a:extLst>
            </p:cNvPr>
            <p:cNvSpPr/>
            <p:nvPr/>
          </p:nvSpPr>
          <p:spPr>
            <a:xfrm rot="10800000">
              <a:off x="4351341" y="1902527"/>
              <a:ext cx="452143" cy="0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83" name="Shape 21">
              <a:extLst>
                <a:ext uri="{FF2B5EF4-FFF2-40B4-BE49-F238E27FC236}">
                  <a16:creationId xmlns:a16="http://schemas.microsoft.com/office/drawing/2014/main" id="{CF1BD0EB-C63A-4819-CCF2-E845C250EFF8}"/>
                </a:ext>
              </a:extLst>
            </p:cNvPr>
            <p:cNvSpPr/>
            <p:nvPr/>
          </p:nvSpPr>
          <p:spPr>
            <a:xfrm rot="10800000">
              <a:off x="4784427" y="1730648"/>
              <a:ext cx="0" cy="190044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84" name="Shape 21">
              <a:extLst>
                <a:ext uri="{FF2B5EF4-FFF2-40B4-BE49-F238E27FC236}">
                  <a16:creationId xmlns:a16="http://schemas.microsoft.com/office/drawing/2014/main" id="{0C260FA9-2FA3-2D6B-87C4-C14DB5931CB6}"/>
                </a:ext>
              </a:extLst>
            </p:cNvPr>
            <p:cNvSpPr/>
            <p:nvPr/>
          </p:nvSpPr>
          <p:spPr>
            <a:xfrm rot="10800000">
              <a:off x="4373853" y="1592011"/>
              <a:ext cx="1" cy="159803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85" name="Shape 22">
              <a:extLst>
                <a:ext uri="{FF2B5EF4-FFF2-40B4-BE49-F238E27FC236}">
                  <a16:creationId xmlns:a16="http://schemas.microsoft.com/office/drawing/2014/main" id="{D7E95DE1-DF66-F657-649B-01CCFFAAC19A}"/>
                </a:ext>
              </a:extLst>
            </p:cNvPr>
            <p:cNvSpPr/>
            <p:nvPr/>
          </p:nvSpPr>
          <p:spPr>
            <a:xfrm rot="10800000" flipV="1">
              <a:off x="4349757" y="1600828"/>
              <a:ext cx="255986" cy="100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86" name="Shape 21">
              <a:extLst>
                <a:ext uri="{FF2B5EF4-FFF2-40B4-BE49-F238E27FC236}">
                  <a16:creationId xmlns:a16="http://schemas.microsoft.com/office/drawing/2014/main" id="{C2EE0741-2D3A-6786-040B-3DF1147DE35E}"/>
                </a:ext>
              </a:extLst>
            </p:cNvPr>
            <p:cNvSpPr/>
            <p:nvPr/>
          </p:nvSpPr>
          <p:spPr>
            <a:xfrm rot="10800000">
              <a:off x="4584914" y="1480854"/>
              <a:ext cx="0" cy="139983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87" name="Shape 21">
              <a:extLst>
                <a:ext uri="{FF2B5EF4-FFF2-40B4-BE49-F238E27FC236}">
                  <a16:creationId xmlns:a16="http://schemas.microsoft.com/office/drawing/2014/main" id="{F02E19E2-9F07-73FF-AEE7-7C07A2117646}"/>
                </a:ext>
              </a:extLst>
            </p:cNvPr>
            <p:cNvSpPr/>
            <p:nvPr/>
          </p:nvSpPr>
          <p:spPr>
            <a:xfrm rot="10800000">
              <a:off x="4537042" y="2237318"/>
              <a:ext cx="0" cy="121857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</p:sp>
        <p:sp>
          <p:nvSpPr>
            <p:cNvPr id="88" name="Shape 21">
              <a:extLst>
                <a:ext uri="{FF2B5EF4-FFF2-40B4-BE49-F238E27FC236}">
                  <a16:creationId xmlns:a16="http://schemas.microsoft.com/office/drawing/2014/main" id="{79B6BE5C-546C-C00C-9C18-C8D903639F66}"/>
                </a:ext>
              </a:extLst>
            </p:cNvPr>
            <p:cNvSpPr/>
            <p:nvPr/>
          </p:nvSpPr>
          <p:spPr>
            <a:xfrm rot="10800000">
              <a:off x="4800241" y="2050065"/>
              <a:ext cx="0" cy="220489"/>
            </a:xfrm>
            <a:prstGeom prst="line">
              <a:avLst/>
            </a:prstGeom>
            <a:noFill/>
            <a:ln w="4445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Text 8">
              <a:extLst>
                <a:ext uri="{FF2B5EF4-FFF2-40B4-BE49-F238E27FC236}">
                  <a16:creationId xmlns:a16="http://schemas.microsoft.com/office/drawing/2014/main" id="{AD78DEB2-675F-5B08-71DB-6989E052A825}"/>
                </a:ext>
              </a:extLst>
            </p:cNvPr>
            <p:cNvSpPr/>
            <p:nvPr/>
          </p:nvSpPr>
          <p:spPr>
            <a:xfrm>
              <a:off x="4442816" y="1120597"/>
              <a:ext cx="282589" cy="1065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TE</a:t>
              </a:r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26DB4DD-36CE-DBCE-CF55-9AB803D1F182}"/>
                </a:ext>
              </a:extLst>
            </p:cNvPr>
            <p:cNvSpPr/>
            <p:nvPr/>
          </p:nvSpPr>
          <p:spPr>
            <a:xfrm>
              <a:off x="2426659" y="1687599"/>
              <a:ext cx="90336" cy="7977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Shape 4">
              <a:extLst>
                <a:ext uri="{FF2B5EF4-FFF2-40B4-BE49-F238E27FC236}">
                  <a16:creationId xmlns:a16="http://schemas.microsoft.com/office/drawing/2014/main" id="{5056D629-064D-93C1-20FE-5F0B53ABE1C3}"/>
                </a:ext>
              </a:extLst>
            </p:cNvPr>
            <p:cNvSpPr/>
            <p:nvPr/>
          </p:nvSpPr>
          <p:spPr>
            <a:xfrm>
              <a:off x="4584914" y="1371253"/>
              <a:ext cx="0" cy="13226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5B18D2A-6D8E-E638-9850-1AB3CEB34F66}"/>
                </a:ext>
              </a:extLst>
            </p:cNvPr>
            <p:cNvSpPr/>
            <p:nvPr/>
          </p:nvSpPr>
          <p:spPr>
            <a:xfrm>
              <a:off x="4543979" y="1304172"/>
              <a:ext cx="90336" cy="7977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3C87511-9C7B-569E-3A43-0F6EC6974065}"/>
                </a:ext>
              </a:extLst>
            </p:cNvPr>
            <p:cNvSpPr txBox="1"/>
            <p:nvPr/>
          </p:nvSpPr>
          <p:spPr>
            <a:xfrm>
              <a:off x="4555966" y="2350248"/>
              <a:ext cx="6323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BE</a:t>
              </a: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3EB19E51-DCC5-1E2C-96F4-172AB5A60645}"/>
              </a:ext>
            </a:extLst>
          </p:cNvPr>
          <p:cNvSpPr txBox="1"/>
          <p:nvPr/>
        </p:nvSpPr>
        <p:spPr>
          <a:xfrm>
            <a:off x="2323121" y="5180182"/>
            <a:ext cx="523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107AA20-0D73-9070-9534-9C714559A78D}"/>
              </a:ext>
            </a:extLst>
          </p:cNvPr>
          <p:cNvSpPr txBox="1"/>
          <p:nvPr/>
        </p:nvSpPr>
        <p:spPr>
          <a:xfrm>
            <a:off x="6438900" y="5156200"/>
            <a:ext cx="52351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342920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38400" y="3657600"/>
            <a:ext cx="7315200" cy="1097280"/>
          </a:xfrm>
          <a:prstGeom prst="rect">
            <a:avLst/>
          </a:prstGeom>
          <a:solidFill>
            <a:srgbClr val="96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 / SiO₂ substrate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740198" y="2193163"/>
            <a:ext cx="4754880" cy="457201"/>
          </a:xfrm>
          <a:prstGeom prst="rect">
            <a:avLst/>
          </a:prstGeom>
          <a:solidFill>
            <a:srgbClr val="F5B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IGZO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0198" y="1461642"/>
            <a:ext cx="1097280" cy="7315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97798" y="1461642"/>
            <a:ext cx="1097280" cy="7315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Pt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0198" y="2651760"/>
            <a:ext cx="4754880" cy="457200"/>
          </a:xfrm>
          <a:prstGeom prst="rect">
            <a:avLst/>
          </a:prstGeom>
          <a:solidFill>
            <a:srgbClr val="3C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Al₂O₃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3108960"/>
            <a:ext cx="2743200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B2566E-2F09-0607-F901-963CCCB0F8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7"/>
          <a:stretch/>
        </p:blipFill>
        <p:spPr>
          <a:xfrm>
            <a:off x="3715967" y="3107564"/>
            <a:ext cx="1032667" cy="548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1CC92C-8C13-8404-2F93-3AA04A826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7"/>
          <a:stretch/>
        </p:blipFill>
        <p:spPr>
          <a:xfrm>
            <a:off x="7462412" y="3107564"/>
            <a:ext cx="1032667" cy="548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04D487-5A1A-6077-AF3F-C5A3DB0E4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7"/>
          <a:stretch/>
        </p:blipFill>
        <p:spPr>
          <a:xfrm>
            <a:off x="8495079" y="3107564"/>
            <a:ext cx="1032667" cy="548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5FE89C-7E04-7352-DC60-8B68CBCB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7"/>
          <a:stretch/>
        </p:blipFill>
        <p:spPr>
          <a:xfrm>
            <a:off x="2707532" y="3106168"/>
            <a:ext cx="103266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-Template Nanoelektronik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Template Nanoelektronik" id="{0630FBD4-084F-4387-A6C8-98A5275D1602}" vid="{EF7A841A-1E80-4440-BF58-8E220CA0EC8D}"/>
    </a:ext>
  </a:extLst>
</a:theme>
</file>

<file path=ppt/theme/theme2.xml><?xml version="1.0" encoding="utf-8"?>
<a:theme xmlns:a="http://schemas.openxmlformats.org/drawingml/2006/main" name="Zwischenseiten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Template Nanoelektronik" id="{35D1E5E6-4778-45DF-9A31-1177244B2F22}" vid="{EAD1DC87-CE01-43EB-BB99-32B0212A3D4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7FDDE2-7F2B-4AF3-889F-DDCF7A2DFA3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17b3315-5921-4201-8e2f-4c92f31f94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PPT-Template Nanoelektronik</Template>
  <TotalTime>0</TotalTime>
  <Words>415</Words>
  <Application>Microsoft Office PowerPoint</Application>
  <PresentationFormat>Widescreen</PresentationFormat>
  <Paragraphs>203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Arial</vt:lpstr>
      <vt:lpstr>Noto Sans</vt:lpstr>
      <vt:lpstr>Noto Sans Medium</vt:lpstr>
      <vt:lpstr>Noto Serif</vt:lpstr>
      <vt:lpstr>Noto Serif (Textkörper)</vt:lpstr>
      <vt:lpstr>Open Sans</vt:lpstr>
      <vt:lpstr>Symbol</vt:lpstr>
      <vt:lpstr>Times New Roman</vt:lpstr>
      <vt:lpstr>PPT-Template Nanoelektronik</vt:lpstr>
      <vt:lpstr>Zwischenseiten</vt:lpstr>
      <vt:lpstr>Prozess flow IGZO-based devices</vt:lpstr>
      <vt:lpstr>Process flow IGZO memristors</vt:lpstr>
      <vt:lpstr>Process flow IGZO transistors</vt:lpstr>
      <vt:lpstr>PowerPoint Presentation</vt:lpstr>
      <vt:lpstr>Monolithic IGZO-Based 1T1R Device Structure</vt:lpstr>
      <vt:lpstr>Monolithic IGZO-Based 1T1R Device Structure</vt:lpstr>
      <vt:lpstr>PowerPoint Presentation</vt:lpstr>
      <vt:lpstr>PowerPoint Presentation</vt:lpstr>
      <vt:lpstr>Monolithic IGZO-Based 1T1R Device Structure</vt:lpstr>
      <vt:lpstr>PowerPoint Presentation</vt:lpstr>
    </vt:vector>
  </TitlesOfParts>
  <Company>Technische Universitaet Dresden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Max, Benjamin</dc:creator>
  <cp:lastModifiedBy>Harsh Vishnukant Khedwal</cp:lastModifiedBy>
  <cp:revision>15</cp:revision>
  <dcterms:created xsi:type="dcterms:W3CDTF">2025-10-20T06:14:14Z</dcterms:created>
  <dcterms:modified xsi:type="dcterms:W3CDTF">2026-09-21T12:41:14Z</dcterms:modified>
</cp:coreProperties>
</file>